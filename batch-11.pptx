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0" r:id="rId5"/>
    <p:sldId id="261" r:id="rId6"/>
    <p:sldId id="262" r:id="rId7"/>
    <p:sldId id="263" r:id="rId8"/>
    <p:sldId id="264" r:id="rId9"/>
    <p:sldId id="265" r:id="rId10"/>
    <p:sldId id="266" r:id="rId11"/>
    <p:sldId id="273" r:id="rId12"/>
    <p:sldId id="267" r:id="rId13"/>
    <p:sldId id="272" r:id="rId14"/>
    <p:sldId id="268" r:id="rId15"/>
    <p:sldId id="271" r:id="rId16"/>
    <p:sldId id="274" r:id="rId17"/>
    <p:sldId id="275" r:id="rId18"/>
    <p:sldId id="276" r:id="rId19"/>
    <p:sldId id="280" r:id="rId20"/>
    <p:sldId id="277" r:id="rId21"/>
    <p:sldId id="278" r:id="rId22"/>
    <p:sldId id="27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6"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77"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78"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79"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0"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81"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48628"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29"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30"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1048631"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1048632" name="Date Placeholder 3"/>
          <p:cNvSpPr>
            <a:spLocks noGrp="1"/>
          </p:cNvSpPr>
          <p:nvPr>
            <p:ph type="dt" sz="half" idx="10"/>
          </p:nvPr>
        </p:nvSpPr>
        <p:spPr/>
        <p:txBody>
          <a:bodyPr/>
          <a:lstStyle/>
          <a:p>
            <a:fld id="{D41C6C9A-1621-40A0-A7E0-7DD0CFF0FEF8}" type="datetimeFigureOut">
              <a:rPr lang="en-IN" smtClean="0"/>
              <a:t>21-05-2020</a:t>
            </a:fld>
            <a:endParaRPr lang="en-IN"/>
          </a:p>
        </p:txBody>
      </p:sp>
      <p:sp>
        <p:nvSpPr>
          <p:cNvPr id="1048633" name="Footer Placeholder 4"/>
          <p:cNvSpPr>
            <a:spLocks noGrp="1"/>
          </p:cNvSpPr>
          <p:nvPr>
            <p:ph type="ftr" sz="quarter" idx="11"/>
          </p:nvPr>
        </p:nvSpPr>
        <p:spPr/>
        <p:txBody>
          <a:bodyPr/>
          <a:lstStyle/>
          <a:p>
            <a:endParaRPr lang="en-IN"/>
          </a:p>
        </p:txBody>
      </p:sp>
      <p:sp>
        <p:nvSpPr>
          <p:cNvPr id="1048634" name="Slide Number Placeholder 5"/>
          <p:cNvSpPr>
            <a:spLocks noGrp="1"/>
          </p:cNvSpPr>
          <p:nvPr>
            <p:ph type="sldNum" sz="quarter" idx="12"/>
          </p:nvPr>
        </p:nvSpPr>
        <p:spPr/>
        <p:txBody>
          <a:bodyPr/>
          <a:lstStyle/>
          <a:p>
            <a:fld id="{22B9BCC9-15C6-4F29-BA57-D26B51A3E7F6}" type="slidenum">
              <a:rPr lang="en-IN" smtClean="0"/>
              <a:t>‹#›</a:t>
            </a:fld>
            <a:endParaRPr lang="en-IN"/>
          </a:p>
        </p:txBody>
      </p:sp>
      <p:cxnSp>
        <p:nvCxnSpPr>
          <p:cNvPr id="3145729" name="Straight Connector 8"/>
          <p:cNvCxnSpPr>
            <a:cxnSpLocks/>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3" name="Title 1"/>
          <p:cNvSpPr>
            <a:spLocks noGrp="1"/>
          </p:cNvSpPr>
          <p:nvPr>
            <p:ph type="title"/>
          </p:nvPr>
        </p:nvSpPr>
        <p:spPr/>
        <p:txBody>
          <a:bodyPr/>
          <a:lstStyle>
            <a:lvl1pPr marL="0"/>
          </a:lstStyle>
          <a:p>
            <a:r>
              <a:rPr lang="en-US"/>
              <a:t>Click to edit Master title style</a:t>
            </a:r>
            <a:endParaRPr lang="en-US" dirty="0"/>
          </a:p>
        </p:txBody>
      </p:sp>
      <p:sp>
        <p:nvSpPr>
          <p:cNvPr id="1048594"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95" name="Date Placeholder 3"/>
          <p:cNvSpPr>
            <a:spLocks noGrp="1"/>
          </p:cNvSpPr>
          <p:nvPr>
            <p:ph type="dt" sz="half" idx="10"/>
          </p:nvPr>
        </p:nvSpPr>
        <p:spPr/>
        <p:txBody>
          <a:bodyPr/>
          <a:lstStyle/>
          <a:p>
            <a:fld id="{D41C6C9A-1621-40A0-A7E0-7DD0CFF0FEF8}" type="datetimeFigureOut">
              <a:rPr lang="en-IN" smtClean="0"/>
              <a:t>21-05-2020</a:t>
            </a:fld>
            <a:endParaRPr lang="en-IN"/>
          </a:p>
        </p:txBody>
      </p:sp>
      <p:sp>
        <p:nvSpPr>
          <p:cNvPr id="1048596" name="Footer Placeholder 4"/>
          <p:cNvSpPr>
            <a:spLocks noGrp="1"/>
          </p:cNvSpPr>
          <p:nvPr>
            <p:ph type="ftr" sz="quarter" idx="11"/>
          </p:nvPr>
        </p:nvSpPr>
        <p:spPr/>
        <p:txBody>
          <a:bodyPr/>
          <a:lstStyle/>
          <a:p>
            <a:endParaRPr lang="en-IN"/>
          </a:p>
        </p:txBody>
      </p:sp>
      <p:sp>
        <p:nvSpPr>
          <p:cNvPr id="1048597" name="Slide Number Placeholder 5"/>
          <p:cNvSpPr>
            <a:spLocks noGrp="1"/>
          </p:cNvSpPr>
          <p:nvPr>
            <p:ph type="sldNum" sz="quarter" idx="12"/>
          </p:nvPr>
        </p:nvSpPr>
        <p:spPr/>
        <p:txBody>
          <a:bodyPr/>
          <a:lstStyle/>
          <a:p>
            <a:fld id="{22B9BCC9-15C6-4F29-BA57-D26B51A3E7F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4864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4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49"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1048650"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51" name="Date Placeholder 3"/>
          <p:cNvSpPr>
            <a:spLocks noGrp="1"/>
          </p:cNvSpPr>
          <p:nvPr>
            <p:ph type="dt" sz="half" idx="10"/>
          </p:nvPr>
        </p:nvSpPr>
        <p:spPr/>
        <p:txBody>
          <a:bodyPr/>
          <a:lstStyle/>
          <a:p>
            <a:fld id="{D41C6C9A-1621-40A0-A7E0-7DD0CFF0FEF8}" type="datetimeFigureOut">
              <a:rPr lang="en-IN" smtClean="0"/>
              <a:t>21-05-2020</a:t>
            </a:fld>
            <a:endParaRPr lang="en-IN"/>
          </a:p>
        </p:txBody>
      </p:sp>
      <p:sp>
        <p:nvSpPr>
          <p:cNvPr id="1048652" name="Footer Placeholder 4"/>
          <p:cNvSpPr>
            <a:spLocks noGrp="1"/>
          </p:cNvSpPr>
          <p:nvPr>
            <p:ph type="ftr" sz="quarter" idx="11"/>
          </p:nvPr>
        </p:nvSpPr>
        <p:spPr/>
        <p:txBody>
          <a:bodyPr/>
          <a:lstStyle/>
          <a:p>
            <a:endParaRPr lang="en-IN"/>
          </a:p>
        </p:txBody>
      </p:sp>
      <p:sp>
        <p:nvSpPr>
          <p:cNvPr id="1048653" name="Slide Number Placeholder 5"/>
          <p:cNvSpPr>
            <a:spLocks noGrp="1"/>
          </p:cNvSpPr>
          <p:nvPr>
            <p:ph type="sldNum" sz="quarter" idx="12"/>
          </p:nvPr>
        </p:nvSpPr>
        <p:spPr/>
        <p:txBody>
          <a:bodyPr/>
          <a:lstStyle/>
          <a:p>
            <a:fld id="{22B9BCC9-15C6-4F29-BA57-D26B51A3E7F6}" type="slidenum">
              <a:rPr lang="en-IN" smtClean="0"/>
              <a:t>‹#›</a:t>
            </a:fld>
            <a:endParaRPr lang="en-IN"/>
          </a:p>
        </p:txBody>
      </p:sp>
      <p:cxnSp>
        <p:nvCxnSpPr>
          <p:cNvPr id="3145730" name="Straight Connector 8"/>
          <p:cNvCxnSpPr>
            <a:cxnSpLocks/>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54"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1048655"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56"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57" name="Date Placeholder 4"/>
          <p:cNvSpPr>
            <a:spLocks noGrp="1"/>
          </p:cNvSpPr>
          <p:nvPr>
            <p:ph type="dt" sz="half" idx="10"/>
          </p:nvPr>
        </p:nvSpPr>
        <p:spPr/>
        <p:txBody>
          <a:bodyPr/>
          <a:lstStyle/>
          <a:p>
            <a:fld id="{D41C6C9A-1621-40A0-A7E0-7DD0CFF0FEF8}" type="datetimeFigureOut">
              <a:rPr lang="en-IN" smtClean="0"/>
              <a:t>21-05-2020</a:t>
            </a:fld>
            <a:endParaRPr lang="en-IN"/>
          </a:p>
        </p:txBody>
      </p:sp>
      <p:sp>
        <p:nvSpPr>
          <p:cNvPr id="1048658" name="Footer Placeholder 5"/>
          <p:cNvSpPr>
            <a:spLocks noGrp="1"/>
          </p:cNvSpPr>
          <p:nvPr>
            <p:ph type="ftr" sz="quarter" idx="11"/>
          </p:nvPr>
        </p:nvSpPr>
        <p:spPr/>
        <p:txBody>
          <a:bodyPr/>
          <a:lstStyle/>
          <a:p>
            <a:endParaRPr lang="en-IN"/>
          </a:p>
        </p:txBody>
      </p:sp>
      <p:sp>
        <p:nvSpPr>
          <p:cNvPr id="1048659" name="Slide Number Placeholder 6"/>
          <p:cNvSpPr>
            <a:spLocks noGrp="1"/>
          </p:cNvSpPr>
          <p:nvPr>
            <p:ph type="sldNum" sz="quarter" idx="12"/>
          </p:nvPr>
        </p:nvSpPr>
        <p:spPr/>
        <p:txBody>
          <a:bodyPr/>
          <a:lstStyle/>
          <a:p>
            <a:fld id="{22B9BCC9-15C6-4F29-BA57-D26B51A3E7F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6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1048661"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63"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4"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65" name="Date Placeholder 6"/>
          <p:cNvSpPr>
            <a:spLocks noGrp="1"/>
          </p:cNvSpPr>
          <p:nvPr>
            <p:ph type="dt" sz="half" idx="10"/>
          </p:nvPr>
        </p:nvSpPr>
        <p:spPr/>
        <p:txBody>
          <a:bodyPr/>
          <a:lstStyle/>
          <a:p>
            <a:fld id="{D41C6C9A-1621-40A0-A7E0-7DD0CFF0FEF8}" type="datetimeFigureOut">
              <a:rPr lang="en-IN" smtClean="0"/>
              <a:t>21-05-2020</a:t>
            </a:fld>
            <a:endParaRPr lang="en-IN"/>
          </a:p>
        </p:txBody>
      </p:sp>
      <p:sp>
        <p:nvSpPr>
          <p:cNvPr id="1048666" name="Footer Placeholder 7"/>
          <p:cNvSpPr>
            <a:spLocks noGrp="1"/>
          </p:cNvSpPr>
          <p:nvPr>
            <p:ph type="ftr" sz="quarter" idx="11"/>
          </p:nvPr>
        </p:nvSpPr>
        <p:spPr/>
        <p:txBody>
          <a:bodyPr/>
          <a:lstStyle/>
          <a:p>
            <a:endParaRPr lang="en-IN"/>
          </a:p>
        </p:txBody>
      </p:sp>
      <p:sp>
        <p:nvSpPr>
          <p:cNvPr id="1048667" name="Slide Number Placeholder 8"/>
          <p:cNvSpPr>
            <a:spLocks noGrp="1"/>
          </p:cNvSpPr>
          <p:nvPr>
            <p:ph type="sldNum" sz="quarter" idx="12"/>
          </p:nvPr>
        </p:nvSpPr>
        <p:spPr/>
        <p:txBody>
          <a:bodyPr/>
          <a:lstStyle/>
          <a:p>
            <a:fld id="{22B9BCC9-15C6-4F29-BA57-D26B51A3E7F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11" name="Title 1"/>
          <p:cNvSpPr>
            <a:spLocks noGrp="1"/>
          </p:cNvSpPr>
          <p:nvPr>
            <p:ph type="title"/>
          </p:nvPr>
        </p:nvSpPr>
        <p:spPr/>
        <p:txBody>
          <a:bodyPr/>
          <a:lstStyle/>
          <a:p>
            <a:r>
              <a:rPr lang="en-US"/>
              <a:t>Click to edit Master title style</a:t>
            </a:r>
            <a:endParaRPr lang="en-US" dirty="0"/>
          </a:p>
        </p:txBody>
      </p:sp>
      <p:sp>
        <p:nvSpPr>
          <p:cNvPr id="1048612" name="Date Placeholder 2"/>
          <p:cNvSpPr>
            <a:spLocks noGrp="1"/>
          </p:cNvSpPr>
          <p:nvPr>
            <p:ph type="dt" sz="half" idx="10"/>
          </p:nvPr>
        </p:nvSpPr>
        <p:spPr/>
        <p:txBody>
          <a:bodyPr/>
          <a:lstStyle/>
          <a:p>
            <a:fld id="{D41C6C9A-1621-40A0-A7E0-7DD0CFF0FEF8}" type="datetimeFigureOut">
              <a:rPr lang="en-IN" smtClean="0"/>
              <a:t>21-05-2020</a:t>
            </a:fld>
            <a:endParaRPr lang="en-IN"/>
          </a:p>
        </p:txBody>
      </p:sp>
      <p:sp>
        <p:nvSpPr>
          <p:cNvPr id="1048613" name="Footer Placeholder 3"/>
          <p:cNvSpPr>
            <a:spLocks noGrp="1"/>
          </p:cNvSpPr>
          <p:nvPr>
            <p:ph type="ftr" sz="quarter" idx="11"/>
          </p:nvPr>
        </p:nvSpPr>
        <p:spPr/>
        <p:txBody>
          <a:bodyPr/>
          <a:lstStyle/>
          <a:p>
            <a:endParaRPr lang="en-IN"/>
          </a:p>
        </p:txBody>
      </p:sp>
      <p:sp>
        <p:nvSpPr>
          <p:cNvPr id="1048614" name="Slide Number Placeholder 4"/>
          <p:cNvSpPr>
            <a:spLocks noGrp="1"/>
          </p:cNvSpPr>
          <p:nvPr>
            <p:ph type="sldNum" sz="quarter" idx="12"/>
          </p:nvPr>
        </p:nvSpPr>
        <p:spPr/>
        <p:txBody>
          <a:bodyPr/>
          <a:lstStyle/>
          <a:p>
            <a:fld id="{22B9BCC9-15C6-4F29-BA57-D26B51A3E7F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48604"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05"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06" name="Date Placeholder 6"/>
          <p:cNvSpPr>
            <a:spLocks noGrp="1"/>
          </p:cNvSpPr>
          <p:nvPr>
            <p:ph type="dt" sz="half" idx="10"/>
          </p:nvPr>
        </p:nvSpPr>
        <p:spPr/>
        <p:txBody>
          <a:bodyPr/>
          <a:lstStyle/>
          <a:p>
            <a:fld id="{D41C6C9A-1621-40A0-A7E0-7DD0CFF0FEF8}" type="datetimeFigureOut">
              <a:rPr lang="en-IN" smtClean="0"/>
              <a:t>21-05-2020</a:t>
            </a:fld>
            <a:endParaRPr lang="en-IN"/>
          </a:p>
        </p:txBody>
      </p:sp>
      <p:sp>
        <p:nvSpPr>
          <p:cNvPr id="1048607"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1048608" name="Slide Number Placeholder 8"/>
          <p:cNvSpPr>
            <a:spLocks noGrp="1"/>
          </p:cNvSpPr>
          <p:nvPr>
            <p:ph type="sldNum" sz="quarter" idx="12"/>
          </p:nvPr>
        </p:nvSpPr>
        <p:spPr/>
        <p:txBody>
          <a:bodyPr/>
          <a:lstStyle/>
          <a:p>
            <a:fld id="{22B9BCC9-15C6-4F29-BA57-D26B51A3E7F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4866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6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70"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1048671"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72"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73" name="Date Placeholder 4"/>
          <p:cNvSpPr>
            <a:spLocks noGrp="1"/>
          </p:cNvSpPr>
          <p:nvPr>
            <p:ph type="dt" sz="half" idx="10"/>
          </p:nvPr>
        </p:nvSpPr>
        <p:spPr>
          <a:xfrm>
            <a:off x="465512" y="6459785"/>
            <a:ext cx="2618510" cy="365125"/>
          </a:xfrm>
        </p:spPr>
        <p:txBody>
          <a:bodyPr/>
          <a:lstStyle>
            <a:lvl1pPr algn="l"/>
          </a:lstStyle>
          <a:p>
            <a:fld id="{D41C6C9A-1621-40A0-A7E0-7DD0CFF0FEF8}" type="datetimeFigureOut">
              <a:rPr lang="en-IN" smtClean="0"/>
              <a:t>21-05-2020</a:t>
            </a:fld>
            <a:endParaRPr lang="en-IN"/>
          </a:p>
        </p:txBody>
      </p:sp>
      <p:sp>
        <p:nvSpPr>
          <p:cNvPr id="1048674"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1048675" name="Slide Number Placeholder 6"/>
          <p:cNvSpPr>
            <a:spLocks noGrp="1"/>
          </p:cNvSpPr>
          <p:nvPr>
            <p:ph type="sldNum" sz="quarter" idx="12"/>
          </p:nvPr>
        </p:nvSpPr>
        <p:spPr/>
        <p:txBody>
          <a:bodyPr/>
          <a:lstStyle>
            <a:lvl1pPr>
              <a:defRPr>
                <a:solidFill>
                  <a:schemeClr val="tx2"/>
                </a:solidFill>
              </a:defRPr>
            </a:lvl1pPr>
          </a:lstStyle>
          <a:p>
            <a:fld id="{22B9BCC9-15C6-4F29-BA57-D26B51A3E7F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48583"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84"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85"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1048586"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48587"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588" name="Date Placeholder 4"/>
          <p:cNvSpPr>
            <a:spLocks noGrp="1"/>
          </p:cNvSpPr>
          <p:nvPr>
            <p:ph type="dt" sz="half" idx="10"/>
          </p:nvPr>
        </p:nvSpPr>
        <p:spPr/>
        <p:txBody>
          <a:bodyPr/>
          <a:lstStyle/>
          <a:p>
            <a:fld id="{D41C6C9A-1621-40A0-A7E0-7DD0CFF0FEF8}" type="datetimeFigureOut">
              <a:rPr lang="en-IN" smtClean="0"/>
              <a:t>21-05-2020</a:t>
            </a:fld>
            <a:endParaRPr lang="en-IN"/>
          </a:p>
        </p:txBody>
      </p:sp>
      <p:sp>
        <p:nvSpPr>
          <p:cNvPr id="1048589" name="Footer Placeholder 5"/>
          <p:cNvSpPr>
            <a:spLocks noGrp="1"/>
          </p:cNvSpPr>
          <p:nvPr>
            <p:ph type="ftr" sz="quarter" idx="11"/>
          </p:nvPr>
        </p:nvSpPr>
        <p:spPr/>
        <p:txBody>
          <a:bodyPr/>
          <a:lstStyle/>
          <a:p>
            <a:endParaRPr lang="en-US" dirty="0"/>
          </a:p>
        </p:txBody>
      </p:sp>
      <p:sp>
        <p:nvSpPr>
          <p:cNvPr id="1048590" name="Slide Number Placeholder 6"/>
          <p:cNvSpPr>
            <a:spLocks noGrp="1"/>
          </p:cNvSpPr>
          <p:nvPr>
            <p:ph type="sldNum" sz="quarter" idx="12"/>
          </p:nvPr>
        </p:nvSpPr>
        <p:spPr/>
        <p:txBody>
          <a:bodyPr/>
          <a:lstStyle/>
          <a:p>
            <a:fld id="{22B9BCC9-15C6-4F29-BA57-D26B51A3E7F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42" name="Title 1"/>
          <p:cNvSpPr>
            <a:spLocks noGrp="1"/>
          </p:cNvSpPr>
          <p:nvPr>
            <p:ph type="title"/>
          </p:nvPr>
        </p:nvSpPr>
        <p:spPr/>
        <p:txBody>
          <a:bodyPr/>
          <a:lstStyle/>
          <a:p>
            <a:r>
              <a:rPr lang="en-US"/>
              <a:t>Click to edit Master title style</a:t>
            </a:r>
            <a:endParaRPr lang="en-US" dirty="0"/>
          </a:p>
        </p:txBody>
      </p:sp>
      <p:sp>
        <p:nvSpPr>
          <p:cNvPr id="104864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44" name="Date Placeholder 3"/>
          <p:cNvSpPr>
            <a:spLocks noGrp="1"/>
          </p:cNvSpPr>
          <p:nvPr>
            <p:ph type="dt" sz="half" idx="10"/>
          </p:nvPr>
        </p:nvSpPr>
        <p:spPr/>
        <p:txBody>
          <a:bodyPr/>
          <a:lstStyle/>
          <a:p>
            <a:fld id="{D41C6C9A-1621-40A0-A7E0-7DD0CFF0FEF8}" type="datetimeFigureOut">
              <a:rPr lang="en-IN" smtClean="0"/>
              <a:t>21-05-2020</a:t>
            </a:fld>
            <a:endParaRPr lang="en-IN"/>
          </a:p>
        </p:txBody>
      </p:sp>
      <p:sp>
        <p:nvSpPr>
          <p:cNvPr id="1048645" name="Footer Placeholder 4"/>
          <p:cNvSpPr>
            <a:spLocks noGrp="1"/>
          </p:cNvSpPr>
          <p:nvPr>
            <p:ph type="ftr" sz="quarter" idx="11"/>
          </p:nvPr>
        </p:nvSpPr>
        <p:spPr/>
        <p:txBody>
          <a:bodyPr/>
          <a:lstStyle/>
          <a:p>
            <a:endParaRPr lang="en-IN"/>
          </a:p>
        </p:txBody>
      </p:sp>
      <p:sp>
        <p:nvSpPr>
          <p:cNvPr id="1048646" name="Slide Number Placeholder 5"/>
          <p:cNvSpPr>
            <a:spLocks noGrp="1"/>
          </p:cNvSpPr>
          <p:nvPr>
            <p:ph type="sldNum" sz="quarter" idx="12"/>
          </p:nvPr>
        </p:nvSpPr>
        <p:spPr/>
        <p:txBody>
          <a:bodyPr/>
          <a:lstStyle/>
          <a:p>
            <a:fld id="{22B9BCC9-15C6-4F29-BA57-D26B51A3E7F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48635"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36"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637"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1048638"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39" name="Date Placeholder 3"/>
          <p:cNvSpPr>
            <a:spLocks noGrp="1"/>
          </p:cNvSpPr>
          <p:nvPr>
            <p:ph type="dt" sz="half" idx="10"/>
          </p:nvPr>
        </p:nvSpPr>
        <p:spPr/>
        <p:txBody>
          <a:bodyPr/>
          <a:lstStyle/>
          <a:p>
            <a:fld id="{D41C6C9A-1621-40A0-A7E0-7DD0CFF0FEF8}" type="datetimeFigureOut">
              <a:rPr lang="en-IN" smtClean="0"/>
              <a:t>21-05-2020</a:t>
            </a:fld>
            <a:endParaRPr lang="en-IN"/>
          </a:p>
        </p:txBody>
      </p:sp>
      <p:sp>
        <p:nvSpPr>
          <p:cNvPr id="1048640" name="Footer Placeholder 4"/>
          <p:cNvSpPr>
            <a:spLocks noGrp="1"/>
          </p:cNvSpPr>
          <p:nvPr>
            <p:ph type="ftr" sz="quarter" idx="11"/>
          </p:nvPr>
        </p:nvSpPr>
        <p:spPr/>
        <p:txBody>
          <a:bodyPr/>
          <a:lstStyle/>
          <a:p>
            <a:endParaRPr lang="en-IN"/>
          </a:p>
        </p:txBody>
      </p:sp>
      <p:sp>
        <p:nvSpPr>
          <p:cNvPr id="1048641" name="Slide Number Placeholder 5"/>
          <p:cNvSpPr>
            <a:spLocks noGrp="1"/>
          </p:cNvSpPr>
          <p:nvPr>
            <p:ph type="sldNum" sz="quarter" idx="12"/>
          </p:nvPr>
        </p:nvSpPr>
        <p:spPr/>
        <p:txBody>
          <a:bodyPr/>
          <a:lstStyle/>
          <a:p>
            <a:fld id="{22B9BCC9-15C6-4F29-BA57-D26B51A3E7F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77"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48578"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48579"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580"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41C6C9A-1621-40A0-A7E0-7DD0CFF0FEF8}" type="datetimeFigureOut">
              <a:rPr lang="en-IN" smtClean="0"/>
              <a:t>21-05-2020</a:t>
            </a:fld>
            <a:endParaRPr lang="en-IN"/>
          </a:p>
        </p:txBody>
      </p:sp>
      <p:sp>
        <p:nvSpPr>
          <p:cNvPr id="1048581"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1048582"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2B9BCC9-15C6-4F29-BA57-D26B51A3E7F6}" type="slidenum">
              <a:rPr lang="en-IN" smtClean="0"/>
              <a:t>‹#›</a:t>
            </a:fld>
            <a:endParaRPr lang="en-IN"/>
          </a:p>
        </p:txBody>
      </p:sp>
      <p:cxnSp>
        <p:nvCxnSpPr>
          <p:cNvPr id="3145728" name="Straight Connector 9"/>
          <p:cNvCxnSpPr>
            <a:cxnSpLocks/>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txBox="1"/>
          <p:nvPr/>
        </p:nvSpPr>
        <p:spPr>
          <a:xfrm>
            <a:off x="657122" y="286603"/>
            <a:ext cx="10498558" cy="210175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dirty="0">
                <a:latin typeface="Arial" panose="020B0604020202020204" pitchFamily="34" charset="0"/>
                <a:cs typeface="Arial" panose="020B0604020202020204" pitchFamily="34" charset="0"/>
              </a:rPr>
              <a:t>Heart Disease Prediction </a:t>
            </a:r>
          </a:p>
          <a:p>
            <a:pPr algn="ctr"/>
            <a:r>
              <a:rPr lang="en-US" b="1" u="sng" dirty="0">
                <a:latin typeface="Arial" panose="020B0604020202020204" pitchFamily="34" charset="0"/>
                <a:cs typeface="Arial" panose="020B0604020202020204" pitchFamily="34" charset="0"/>
              </a:rPr>
              <a:t>Using Effective Machine Learning Techniques</a:t>
            </a:r>
            <a:endParaRPr lang="en-IN" b="1" u="sng" dirty="0">
              <a:latin typeface="Arial" panose="020B0604020202020204" pitchFamily="34" charset="0"/>
              <a:cs typeface="Arial" panose="020B0604020202020204" pitchFamily="34" charset="0"/>
            </a:endParaRPr>
          </a:p>
        </p:txBody>
      </p:sp>
      <p:graphicFrame>
        <p:nvGraphicFramePr>
          <p:cNvPr id="4194304" name="Table 9"/>
          <p:cNvGraphicFramePr>
            <a:graphicFrameLocks noGrp="1"/>
          </p:cNvGraphicFramePr>
          <p:nvPr/>
        </p:nvGraphicFramePr>
        <p:xfrm>
          <a:off x="4998626" y="2600021"/>
          <a:ext cx="6662627" cy="3070748"/>
        </p:xfrm>
        <a:graphic>
          <a:graphicData uri="http://schemas.openxmlformats.org/drawingml/2006/table">
            <a:tbl>
              <a:tblPr bandRow="1">
                <a:tableStyleId>{2D5ABB26-0587-4C30-8999-92F81FD0307C}</a:tableStyleId>
              </a:tblPr>
              <a:tblGrid>
                <a:gridCol w="4025799">
                  <a:extLst>
                    <a:ext uri="{9D8B030D-6E8A-4147-A177-3AD203B41FA5}">
                      <a16:colId xmlns:a16="http://schemas.microsoft.com/office/drawing/2014/main" val="20000"/>
                    </a:ext>
                  </a:extLst>
                </a:gridCol>
                <a:gridCol w="2636828">
                  <a:extLst>
                    <a:ext uri="{9D8B030D-6E8A-4147-A177-3AD203B41FA5}">
                      <a16:colId xmlns:a16="http://schemas.microsoft.com/office/drawing/2014/main" val="20001"/>
                    </a:ext>
                  </a:extLst>
                </a:gridCol>
              </a:tblGrid>
              <a:tr h="767687">
                <a:tc>
                  <a:txBody>
                    <a:bodyPr/>
                    <a:lstStyle/>
                    <a:p>
                      <a:pPr algn="r"/>
                      <a:endParaRPr lang="en-IN" sz="2800" u="sng" dirty="0"/>
                    </a:p>
                  </a:txBody>
                  <a:tcPr/>
                </a:tc>
                <a:tc>
                  <a:txBody>
                    <a:bodyPr/>
                    <a:lstStyle/>
                    <a:p>
                      <a:pPr algn="r"/>
                      <a:r>
                        <a:rPr lang="en-IN" sz="2800" u="sng" dirty="0"/>
                        <a:t>BY</a:t>
                      </a:r>
                    </a:p>
                  </a:txBody>
                  <a:tcPr/>
                </a:tc>
                <a:extLst>
                  <a:ext uri="{0D108BD9-81ED-4DB2-BD59-A6C34878D82A}">
                    <a16:rowId xmlns:a16="http://schemas.microsoft.com/office/drawing/2014/main" val="10000"/>
                  </a:ext>
                </a:extLst>
              </a:tr>
              <a:tr h="767687">
                <a:tc>
                  <a:txBody>
                    <a:bodyPr/>
                    <a:lstStyle/>
                    <a:p>
                      <a:pPr algn="r"/>
                      <a:r>
                        <a:rPr lang="en-IN" sz="2800" u="none" dirty="0"/>
                        <a:t>M VINAY KUMAR </a:t>
                      </a:r>
                    </a:p>
                  </a:txBody>
                  <a:tcPr/>
                </a:tc>
                <a:tc>
                  <a:txBody>
                    <a:bodyPr/>
                    <a:lstStyle/>
                    <a:p>
                      <a:pPr algn="r"/>
                      <a:r>
                        <a:rPr lang="en-IN" sz="2800" u="none" dirty="0"/>
                        <a:t>(16RJ1A05C8)</a:t>
                      </a:r>
                    </a:p>
                  </a:txBody>
                  <a:tcPr/>
                </a:tc>
                <a:extLst>
                  <a:ext uri="{0D108BD9-81ED-4DB2-BD59-A6C34878D82A}">
                    <a16:rowId xmlns:a16="http://schemas.microsoft.com/office/drawing/2014/main" val="10001"/>
                  </a:ext>
                </a:extLst>
              </a:tr>
              <a:tr h="767687">
                <a:tc>
                  <a:txBody>
                    <a:bodyPr/>
                    <a:lstStyle/>
                    <a:p>
                      <a:pPr algn="r"/>
                      <a:r>
                        <a:rPr lang="en-IN" sz="2800" dirty="0"/>
                        <a:t> M ANJANEYULU  RAJU </a:t>
                      </a:r>
                    </a:p>
                  </a:txBody>
                  <a:tcPr/>
                </a:tc>
                <a:tc>
                  <a:txBody>
                    <a:bodyPr/>
                    <a:lstStyle/>
                    <a:p>
                      <a:pPr algn="r"/>
                      <a:r>
                        <a:rPr lang="en-IN" sz="2800" dirty="0"/>
                        <a:t>(16RJ1A05F0)</a:t>
                      </a:r>
                    </a:p>
                  </a:txBody>
                  <a:tcPr/>
                </a:tc>
                <a:extLst>
                  <a:ext uri="{0D108BD9-81ED-4DB2-BD59-A6C34878D82A}">
                    <a16:rowId xmlns:a16="http://schemas.microsoft.com/office/drawing/2014/main" val="10002"/>
                  </a:ext>
                </a:extLst>
              </a:tr>
              <a:tr h="767687">
                <a:tc>
                  <a:txBody>
                    <a:bodyPr/>
                    <a:lstStyle/>
                    <a:p>
                      <a:pPr algn="r"/>
                      <a:r>
                        <a:rPr lang="en-IN" sz="2800" dirty="0"/>
                        <a:t>M LOKANAND </a:t>
                      </a:r>
                    </a:p>
                  </a:txBody>
                  <a:tcPr/>
                </a:tc>
                <a:tc>
                  <a:txBody>
                    <a:bodyPr/>
                    <a:lstStyle/>
                    <a:p>
                      <a:pPr algn="r"/>
                      <a:r>
                        <a:rPr lang="en-IN" sz="2800" dirty="0"/>
                        <a:t>(16RJ1A05F3)</a:t>
                      </a:r>
                    </a:p>
                  </a:txBody>
                  <a:tcPr/>
                </a:tc>
                <a:extLst>
                  <a:ext uri="{0D108BD9-81ED-4DB2-BD59-A6C34878D82A}">
                    <a16:rowId xmlns:a16="http://schemas.microsoft.com/office/drawing/2014/main" val="10003"/>
                  </a:ext>
                </a:extLst>
              </a:tr>
            </a:tbl>
          </a:graphicData>
        </a:graphic>
      </p:graphicFrame>
      <p:sp>
        <p:nvSpPr>
          <p:cNvPr id="1048610" name="Rectangle 3"/>
          <p:cNvSpPr/>
          <p:nvPr/>
        </p:nvSpPr>
        <p:spPr>
          <a:xfrm>
            <a:off x="574077" y="3463242"/>
            <a:ext cx="3265638" cy="1415772"/>
          </a:xfrm>
          <a:prstGeom prst="rect">
            <a:avLst/>
          </a:prstGeom>
          <a:noFill/>
        </p:spPr>
        <p:txBody>
          <a:bodyPr wrap="none" lIns="91440" tIns="45720" rIns="91440" bIns="45720">
            <a:spAutoFit/>
          </a:bodyPr>
          <a:lstStyle/>
          <a:p>
            <a:pPr algn="ctr"/>
            <a:r>
              <a:rPr lang="en-US" sz="3200" u="sng" dirty="0">
                <a:ln w="0"/>
                <a:effectLst>
                  <a:outerShdw blurRad="38100" dist="19050" dir="2700000" algn="tl" rotWithShape="0">
                    <a:schemeClr val="dk1">
                      <a:alpha val="40000"/>
                    </a:schemeClr>
                  </a:outerShdw>
                </a:effectLst>
              </a:rPr>
              <a:t>Under guidance of</a:t>
            </a:r>
            <a:endParaRPr lang="en-US" sz="5400" dirty="0">
              <a:ln w="0"/>
              <a:effectLst>
                <a:outerShdw blurRad="38100" dist="19050" dir="2700000" algn="tl" rotWithShape="0">
                  <a:schemeClr val="dk1">
                    <a:alpha val="40000"/>
                  </a:schemeClr>
                </a:outerShdw>
              </a:effectLst>
            </a:endParaRPr>
          </a:p>
          <a:p>
            <a:pPr algn="ctr"/>
            <a:r>
              <a:rPr lang="en-US" sz="5400" dirty="0">
                <a:ln w="0"/>
                <a:effectLst>
                  <a:outerShdw blurRad="38100" dist="19050" dir="2700000" algn="tl" rotWithShape="0">
                    <a:schemeClr val="dk1">
                      <a:alpha val="40000"/>
                    </a:schemeClr>
                  </a:outerShdw>
                </a:effectLst>
              </a:rPr>
              <a:t>N.PAVAN</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Title 1"/>
          <p:cNvSpPr>
            <a:spLocks noGrp="1"/>
          </p:cNvSpPr>
          <p:nvPr>
            <p:ph type="title"/>
          </p:nvPr>
        </p:nvSpPr>
        <p:spPr>
          <a:xfrm>
            <a:off x="1082722" y="286603"/>
            <a:ext cx="10058400" cy="1450757"/>
          </a:xfrm>
        </p:spPr>
        <p:txBody>
          <a:bodyPr/>
          <a:lstStyle/>
          <a:p>
            <a:r>
              <a:rPr lang="en-IN" dirty="0"/>
              <a:t>ABSTRACT</a:t>
            </a:r>
          </a:p>
        </p:txBody>
      </p:sp>
      <p:sp>
        <p:nvSpPr>
          <p:cNvPr id="1048616" name="Content Placeholder 2"/>
          <p:cNvSpPr>
            <a:spLocks noGrp="1"/>
          </p:cNvSpPr>
          <p:nvPr>
            <p:ph idx="4294967295"/>
          </p:nvPr>
        </p:nvSpPr>
        <p:spPr>
          <a:xfrm>
            <a:off x="1066800" y="1737361"/>
            <a:ext cx="10058400" cy="4434840"/>
          </a:xfrm>
        </p:spPr>
        <p:txBody>
          <a:bodyPr>
            <a:normAutofit/>
          </a:bodyPr>
          <a:lstStyle/>
          <a:p>
            <a:pPr lvl="1" algn="just">
              <a:buFont typeface="Wingdings" panose="05000000000000000000" pitchFamily="2" charset="2"/>
              <a:buChar char="§"/>
            </a:pPr>
            <a:r>
              <a:rPr lang="en-US" sz="3000" dirty="0"/>
              <a:t>Heart disease is a common problem which can be very severe in old ages and also in people not having a healthy lifestyle. </a:t>
            </a:r>
          </a:p>
          <a:p>
            <a:pPr lvl="1" algn="just">
              <a:buFont typeface="Wingdings" panose="05000000000000000000" pitchFamily="2" charset="2"/>
              <a:buChar char="§"/>
            </a:pPr>
            <a:r>
              <a:rPr lang="en-US" sz="3000" dirty="0"/>
              <a:t>The main objective of this project is to try and reduce the number of occurrences of the heart diseases in patients.</a:t>
            </a:r>
            <a:r>
              <a:rPr lang="en-US" sz="3000" i="1" dirty="0"/>
              <a:t> </a:t>
            </a:r>
            <a:r>
              <a:rPr lang="en-US" sz="3000" dirty="0"/>
              <a:t>The medical data such as age, sex, Blood pressure, cigarette smoked per day and so on is taken as input and then these features are modelled for prediction. </a:t>
            </a:r>
          </a:p>
          <a:p>
            <a:pPr lvl="1" algn="just">
              <a:buFont typeface="Wingdings" panose="05000000000000000000" pitchFamily="2" charset="2"/>
              <a:buChar char="§"/>
            </a:pPr>
            <a:r>
              <a:rPr lang="en-US" sz="3000" dirty="0"/>
              <a:t>The algorithms like K- nearest neighbor , Naïve Bayes and decision tree are used. </a:t>
            </a:r>
            <a:endParaRPr lang="en-IN" sz="30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r>
              <a:rPr lang="en-IN" dirty="0"/>
              <a:t>EXISTING SYSTEM</a:t>
            </a:r>
          </a:p>
        </p:txBody>
      </p:sp>
      <p:sp>
        <p:nvSpPr>
          <p:cNvPr id="1048618" name="TextBox 2"/>
          <p:cNvSpPr txBox="1"/>
          <p:nvPr/>
        </p:nvSpPr>
        <p:spPr>
          <a:xfrm>
            <a:off x="1063752" y="1710553"/>
            <a:ext cx="10318481" cy="2707640"/>
          </a:xfrm>
          <a:prstGeom prst="rect">
            <a:avLst/>
          </a:prstGeom>
          <a:noFill/>
        </p:spPr>
        <p:txBody>
          <a:bodyPr wrap="square" numCol="1" rtlCol="0">
            <a:spAutoFit/>
          </a:bodyPr>
          <a:lstStyle/>
          <a:p>
            <a:pPr marL="285750" indent="-285750" algn="just">
              <a:buClr>
                <a:schemeClr val="accent1"/>
              </a:buClr>
              <a:buFont typeface="Wingdings" panose="05000000000000000000" pitchFamily="2" charset="2"/>
              <a:buChar char="§"/>
            </a:pPr>
            <a:r>
              <a:rPr lang="en-US" sz="2800" dirty="0"/>
              <a:t>Diagnosis of the condition solely depends upon the Doctor's intuition.  </a:t>
            </a:r>
          </a:p>
          <a:p>
            <a:pPr algn="just">
              <a:spcBef>
                <a:spcPts val="1800"/>
              </a:spcBef>
              <a:spcAft>
                <a:spcPts val="1800"/>
              </a:spcAft>
              <a:buClr>
                <a:schemeClr val="accent1"/>
              </a:buClr>
            </a:pPr>
            <a:r>
              <a:rPr lang="en-US" sz="3200" u="sng" dirty="0"/>
              <a:t>DISADVANTAGES:</a:t>
            </a:r>
          </a:p>
          <a:p>
            <a:pPr marL="285750" indent="-285750" algn="just">
              <a:buClr>
                <a:schemeClr val="accent1"/>
              </a:buClr>
              <a:buFont typeface="Wingdings" panose="05000000000000000000" pitchFamily="2" charset="2"/>
              <a:buChar char="§"/>
            </a:pPr>
            <a:r>
              <a:rPr lang="en-US" sz="2800" dirty="0"/>
              <a:t> Detection is not possible at an earlier stage. </a:t>
            </a:r>
          </a:p>
          <a:p>
            <a:pPr marL="285750" indent="-285750" algn="just">
              <a:buClr>
                <a:schemeClr val="accent1"/>
              </a:buClr>
              <a:buFont typeface="Wingdings" panose="05000000000000000000" pitchFamily="2" charset="2"/>
              <a:buChar char="§"/>
            </a:pPr>
            <a:r>
              <a:rPr lang="en-US" sz="2800" dirty="0"/>
              <a:t> In the existing system is time consuming . </a:t>
            </a:r>
            <a:endParaRPr lang="en-IN" sz="2800"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title"/>
          </p:nvPr>
        </p:nvSpPr>
        <p:spPr/>
        <p:txBody>
          <a:bodyPr/>
          <a:lstStyle/>
          <a:p>
            <a:r>
              <a:rPr lang="en-IN" dirty="0"/>
              <a:t>PROPOSED SYSTEM</a:t>
            </a:r>
          </a:p>
        </p:txBody>
      </p:sp>
      <p:sp>
        <p:nvSpPr>
          <p:cNvPr id="1048620" name="Content Placeholder 2"/>
          <p:cNvSpPr>
            <a:spLocks noGrp="1"/>
          </p:cNvSpPr>
          <p:nvPr>
            <p:ph idx="1"/>
          </p:nvPr>
        </p:nvSpPr>
        <p:spPr>
          <a:xfrm>
            <a:off x="1097280" y="1845734"/>
            <a:ext cx="10058400" cy="4023360"/>
          </a:xfrm>
        </p:spPr>
        <p:txBody>
          <a:bodyPr>
            <a:normAutofit/>
          </a:bodyPr>
          <a:lstStyle/>
          <a:p>
            <a:pPr marL="457200" indent="-457200" algn="just">
              <a:lnSpc>
                <a:spcPct val="100000"/>
              </a:lnSpc>
              <a:spcBef>
                <a:spcPts val="0"/>
              </a:spcBef>
              <a:spcAft>
                <a:spcPts val="0"/>
              </a:spcAft>
              <a:buFont typeface="Wingdings" panose="05000000000000000000" pitchFamily="2" charset="2"/>
              <a:buChar char="§"/>
            </a:pPr>
            <a:r>
              <a:rPr lang="en-IN" sz="2800" dirty="0"/>
              <a:t>In proposed system we don’t depend upon doctor but we use algorithms to predict heart disease through machine learning.</a:t>
            </a:r>
          </a:p>
          <a:p>
            <a:pPr marL="457200" indent="-457200" algn="just">
              <a:lnSpc>
                <a:spcPct val="100000"/>
              </a:lnSpc>
              <a:spcBef>
                <a:spcPts val="0"/>
              </a:spcBef>
              <a:spcAft>
                <a:spcPts val="0"/>
              </a:spcAft>
              <a:buFont typeface="Wingdings" panose="05000000000000000000" pitchFamily="2" charset="2"/>
              <a:buChar char="§"/>
            </a:pPr>
            <a:r>
              <a:rPr lang="en-US" sz="2800" dirty="0"/>
              <a:t>We use algorithms like K- nearest neighbor , Naïve Bayes and decision tree</a:t>
            </a:r>
            <a:r>
              <a:rPr lang="en-IN" sz="2800" dirty="0"/>
              <a:t> to increase accuracy of result.</a:t>
            </a:r>
          </a:p>
          <a:p>
            <a:pPr marL="292608" lvl="1" indent="0" algn="just">
              <a:lnSpc>
                <a:spcPct val="150000"/>
              </a:lnSpc>
              <a:spcAft>
                <a:spcPts val="1200"/>
              </a:spcAft>
              <a:buNone/>
            </a:pPr>
            <a:r>
              <a:rPr lang="en-IN" sz="3200" u="sng" dirty="0"/>
              <a:t>ADVANTAGES:</a:t>
            </a:r>
          </a:p>
          <a:p>
            <a:pPr>
              <a:buFont typeface="Wingdings" panose="05000000000000000000" pitchFamily="2" charset="2"/>
              <a:buChar char="§"/>
            </a:pPr>
            <a:r>
              <a:rPr lang="en-IN" sz="2800" dirty="0"/>
              <a:t> Very less time taking and accurate result.</a:t>
            </a:r>
          </a:p>
          <a:p>
            <a:pPr>
              <a:buFont typeface="Wingdings" panose="05000000000000000000" pitchFamily="2" charset="2"/>
              <a:buChar char="§"/>
            </a:pPr>
            <a:r>
              <a:rPr lang="en-IN" sz="2800" dirty="0"/>
              <a:t> </a:t>
            </a:r>
            <a:r>
              <a:rPr lang="en-US" sz="2800" dirty="0"/>
              <a:t>Detection is possible at an earlier stage. </a:t>
            </a:r>
          </a:p>
          <a:p>
            <a:pPr lvl="1">
              <a:buFont typeface="Wingdings" panose="05000000000000000000" pitchFamily="2" charset="2"/>
              <a:buChar char="§"/>
            </a:pPr>
            <a:endParaRPr lang="en-IN" sz="320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
          <p:cNvSpPr>
            <a:spLocks noGrp="1"/>
          </p:cNvSpPr>
          <p:nvPr>
            <p:ph type="title"/>
          </p:nvPr>
        </p:nvSpPr>
        <p:spPr/>
        <p:txBody>
          <a:bodyPr/>
          <a:lstStyle/>
          <a:p>
            <a:r>
              <a:rPr lang="en-IN"/>
              <a:t>HARDWARE </a:t>
            </a:r>
            <a:r>
              <a:rPr lang="en-IN" dirty="0"/>
              <a:t>REQUIREMENTS</a:t>
            </a:r>
          </a:p>
        </p:txBody>
      </p:sp>
      <p:graphicFrame>
        <p:nvGraphicFramePr>
          <p:cNvPr id="4194305" name="Table 4"/>
          <p:cNvGraphicFramePr>
            <a:graphicFrameLocks noGrp="1"/>
          </p:cNvGraphicFramePr>
          <p:nvPr>
            <p:ph idx="1"/>
            <p:extLst>
              <p:ext uri="{D42A27DB-BD31-4B8C-83A1-F6EECF244321}">
                <p14:modId xmlns:p14="http://schemas.microsoft.com/office/powerpoint/2010/main" val="2985534797"/>
              </p:ext>
            </p:extLst>
          </p:nvPr>
        </p:nvGraphicFramePr>
        <p:xfrm>
          <a:off x="1096963" y="1856096"/>
          <a:ext cx="10058402" cy="3995747"/>
        </p:xfrm>
        <a:graphic>
          <a:graphicData uri="http://schemas.openxmlformats.org/drawingml/2006/table">
            <a:tbl>
              <a:tblPr firstRow="1" bandRow="1">
                <a:tableStyleId>{5C22544A-7EE6-4342-B048-85BDC9FD1C3A}</a:tableStyleId>
              </a:tblPr>
              <a:tblGrid>
                <a:gridCol w="3174786">
                  <a:extLst>
                    <a:ext uri="{9D8B030D-6E8A-4147-A177-3AD203B41FA5}">
                      <a16:colId xmlns:a16="http://schemas.microsoft.com/office/drawing/2014/main" val="20000"/>
                    </a:ext>
                  </a:extLst>
                </a:gridCol>
                <a:gridCol w="6883616">
                  <a:extLst>
                    <a:ext uri="{9D8B030D-6E8A-4147-A177-3AD203B41FA5}">
                      <a16:colId xmlns:a16="http://schemas.microsoft.com/office/drawing/2014/main" val="20001"/>
                    </a:ext>
                  </a:extLst>
                </a:gridCol>
              </a:tblGrid>
              <a:tr h="991562">
                <a:tc>
                  <a:txBody>
                    <a:bodyPr/>
                    <a:lstStyle/>
                    <a:p>
                      <a:r>
                        <a:rPr lang="en-IN" sz="3600" b="0" dirty="0">
                          <a:solidFill>
                            <a:schemeClr val="tx1"/>
                          </a:solidFill>
                          <a:latin typeface="+mj-lt"/>
                        </a:rPr>
                        <a:t>PROCESSOR</a:t>
                      </a:r>
                    </a:p>
                  </a:txBody>
                  <a:tcPr marL="91441" marR="91441">
                    <a:solidFill>
                      <a:schemeClr val="bg1"/>
                    </a:solidFill>
                  </a:tcPr>
                </a:tc>
                <a:tc>
                  <a:txBody>
                    <a:bodyPr/>
                    <a:lstStyle/>
                    <a:p>
                      <a:r>
                        <a:rPr lang="en-IN" sz="3600" b="0" dirty="0">
                          <a:solidFill>
                            <a:schemeClr val="tx1"/>
                          </a:solidFill>
                          <a:latin typeface="+mj-lt"/>
                        </a:rPr>
                        <a:t>: PENTIUM AND ABOVE</a:t>
                      </a:r>
                    </a:p>
                  </a:txBody>
                  <a:tcPr marL="91441" marR="91441">
                    <a:solidFill>
                      <a:schemeClr val="bg1"/>
                    </a:solidFill>
                  </a:tcPr>
                </a:tc>
                <a:extLst>
                  <a:ext uri="{0D108BD9-81ED-4DB2-BD59-A6C34878D82A}">
                    <a16:rowId xmlns:a16="http://schemas.microsoft.com/office/drawing/2014/main" val="10000"/>
                  </a:ext>
                </a:extLst>
              </a:tr>
              <a:tr h="1001395">
                <a:tc>
                  <a:txBody>
                    <a:bodyPr/>
                    <a:lstStyle/>
                    <a:p>
                      <a:r>
                        <a:rPr lang="en-IN" sz="3600" b="0" dirty="0">
                          <a:solidFill>
                            <a:schemeClr val="tx1"/>
                          </a:solidFill>
                          <a:latin typeface="+mj-lt"/>
                        </a:rPr>
                        <a:t>SPEED</a:t>
                      </a:r>
                    </a:p>
                  </a:txBody>
                  <a:tcPr marL="91441" marR="91441">
                    <a:solidFill>
                      <a:schemeClr val="bg1"/>
                    </a:solidFill>
                  </a:tcPr>
                </a:tc>
                <a:tc>
                  <a:txBody>
                    <a:bodyPr/>
                    <a:lstStyle/>
                    <a:p>
                      <a:r>
                        <a:rPr lang="en-IN" sz="3600" b="0" dirty="0">
                          <a:solidFill>
                            <a:schemeClr val="tx1"/>
                          </a:solidFill>
                          <a:latin typeface="+mj-lt"/>
                        </a:rPr>
                        <a:t>: 1.1GHz AND ABOVE</a:t>
                      </a:r>
                    </a:p>
                  </a:txBody>
                  <a:tcPr marL="91441" marR="91441">
                    <a:solidFill>
                      <a:schemeClr val="bg1"/>
                    </a:solidFill>
                  </a:tcPr>
                </a:tc>
                <a:extLst>
                  <a:ext uri="{0D108BD9-81ED-4DB2-BD59-A6C34878D82A}">
                    <a16:rowId xmlns:a16="http://schemas.microsoft.com/office/drawing/2014/main" val="10001"/>
                  </a:ext>
                </a:extLst>
              </a:tr>
              <a:tr h="1001395">
                <a:tc>
                  <a:txBody>
                    <a:bodyPr/>
                    <a:lstStyle/>
                    <a:p>
                      <a:r>
                        <a:rPr lang="en-IN" sz="3600" b="0" dirty="0">
                          <a:solidFill>
                            <a:schemeClr val="tx1"/>
                          </a:solidFill>
                          <a:latin typeface="+mj-lt"/>
                        </a:rPr>
                        <a:t>RAM</a:t>
                      </a:r>
                    </a:p>
                  </a:txBody>
                  <a:tcPr marL="91441" marR="91441">
                    <a:solidFill>
                      <a:schemeClr val="bg1"/>
                    </a:solidFill>
                  </a:tcPr>
                </a:tc>
                <a:tc>
                  <a:txBody>
                    <a:bodyPr/>
                    <a:lstStyle/>
                    <a:p>
                      <a:r>
                        <a:rPr lang="en-IN" sz="3600" b="0" dirty="0">
                          <a:solidFill>
                            <a:schemeClr val="tx1"/>
                          </a:solidFill>
                          <a:latin typeface="+mj-lt"/>
                        </a:rPr>
                        <a:t>: 2GB AND ABOVE</a:t>
                      </a:r>
                    </a:p>
                  </a:txBody>
                  <a:tcPr marL="91441" marR="91441">
                    <a:solidFill>
                      <a:schemeClr val="bg1"/>
                    </a:solidFill>
                  </a:tcPr>
                </a:tc>
                <a:extLst>
                  <a:ext uri="{0D108BD9-81ED-4DB2-BD59-A6C34878D82A}">
                    <a16:rowId xmlns:a16="http://schemas.microsoft.com/office/drawing/2014/main" val="10002"/>
                  </a:ext>
                </a:extLst>
              </a:tr>
              <a:tr h="1001395">
                <a:tc>
                  <a:txBody>
                    <a:bodyPr/>
                    <a:lstStyle/>
                    <a:p>
                      <a:r>
                        <a:rPr lang="en-IN" sz="3600" b="0" dirty="0">
                          <a:solidFill>
                            <a:schemeClr val="tx1"/>
                          </a:solidFill>
                          <a:latin typeface="+mj-lt"/>
                        </a:rPr>
                        <a:t>HARD DISK</a:t>
                      </a:r>
                    </a:p>
                  </a:txBody>
                  <a:tcPr marL="91441" marR="91441">
                    <a:solidFill>
                      <a:schemeClr val="bg1"/>
                    </a:solidFill>
                  </a:tcPr>
                </a:tc>
                <a:tc>
                  <a:txBody>
                    <a:bodyPr/>
                    <a:lstStyle/>
                    <a:p>
                      <a:r>
                        <a:rPr lang="en-IN" sz="3600" b="0" dirty="0">
                          <a:solidFill>
                            <a:schemeClr val="tx1"/>
                          </a:solidFill>
                          <a:latin typeface="+mj-lt"/>
                        </a:rPr>
                        <a:t>: 512GB AND ABOVE</a:t>
                      </a:r>
                    </a:p>
                  </a:txBody>
                  <a:tcPr marL="91441" marR="91441">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Title 1"/>
          <p:cNvSpPr>
            <a:spLocks noGrp="1"/>
          </p:cNvSpPr>
          <p:nvPr>
            <p:ph type="title"/>
          </p:nvPr>
        </p:nvSpPr>
        <p:spPr/>
        <p:txBody>
          <a:bodyPr/>
          <a:lstStyle/>
          <a:p>
            <a:r>
              <a:rPr lang="en-IN" dirty="0"/>
              <a:t>SOFTWARE REQUIREMENTS</a:t>
            </a:r>
          </a:p>
        </p:txBody>
      </p:sp>
      <p:graphicFrame>
        <p:nvGraphicFramePr>
          <p:cNvPr id="4194306" name="Content Placeholder 3"/>
          <p:cNvGraphicFramePr>
            <a:graphicFrameLocks noGrp="1"/>
          </p:cNvGraphicFramePr>
          <p:nvPr>
            <p:ph idx="1"/>
          </p:nvPr>
        </p:nvGraphicFramePr>
        <p:xfrm>
          <a:off x="1096963" y="1846263"/>
          <a:ext cx="10058401" cy="4279392"/>
        </p:xfrm>
        <a:graphic>
          <a:graphicData uri="http://schemas.openxmlformats.org/drawingml/2006/table">
            <a:tbl>
              <a:tblPr firstRow="1" bandRow="1">
                <a:tableStyleId>{5C22544A-7EE6-4342-B048-85BDC9FD1C3A}</a:tableStyleId>
              </a:tblPr>
              <a:tblGrid>
                <a:gridCol w="3065604">
                  <a:extLst>
                    <a:ext uri="{9D8B030D-6E8A-4147-A177-3AD203B41FA5}">
                      <a16:colId xmlns:a16="http://schemas.microsoft.com/office/drawing/2014/main" val="20000"/>
                    </a:ext>
                  </a:extLst>
                </a:gridCol>
                <a:gridCol w="6992797">
                  <a:extLst>
                    <a:ext uri="{9D8B030D-6E8A-4147-A177-3AD203B41FA5}">
                      <a16:colId xmlns:a16="http://schemas.microsoft.com/office/drawing/2014/main" val="20001"/>
                    </a:ext>
                  </a:extLst>
                </a:gridCol>
              </a:tblGrid>
              <a:tr h="1069848">
                <a:tc>
                  <a:txBody>
                    <a:bodyPr/>
                    <a:lstStyle/>
                    <a:p>
                      <a:r>
                        <a:rPr lang="en-IN" sz="3200" b="0" kern="1200" dirty="0">
                          <a:solidFill>
                            <a:schemeClr val="dk1"/>
                          </a:solidFill>
                          <a:latin typeface="+mn-lt"/>
                          <a:ea typeface="+mn-ea"/>
                          <a:cs typeface="+mn-cs"/>
                        </a:rPr>
                        <a:t>OS</a:t>
                      </a:r>
                    </a:p>
                  </a:txBody>
                  <a:tcPr marL="91441" marR="91441">
                    <a:solidFill>
                      <a:schemeClr val="bg1"/>
                    </a:solidFill>
                  </a:tcPr>
                </a:tc>
                <a:tc>
                  <a:txBody>
                    <a:bodyPr/>
                    <a:lstStyle/>
                    <a:p>
                      <a:r>
                        <a:rPr lang="en-IN" sz="3200" b="0" dirty="0">
                          <a:solidFill>
                            <a:schemeClr val="tx1"/>
                          </a:solidFill>
                        </a:rPr>
                        <a:t>: WINDOWS 10</a:t>
                      </a:r>
                    </a:p>
                  </a:txBody>
                  <a:tcPr marL="91441" marR="91441">
                    <a:solidFill>
                      <a:schemeClr val="bg1"/>
                    </a:solidFill>
                  </a:tcPr>
                </a:tc>
                <a:extLst>
                  <a:ext uri="{0D108BD9-81ED-4DB2-BD59-A6C34878D82A}">
                    <a16:rowId xmlns:a16="http://schemas.microsoft.com/office/drawing/2014/main" val="10000"/>
                  </a:ext>
                </a:extLst>
              </a:tr>
              <a:tr h="1069848">
                <a:tc>
                  <a:txBody>
                    <a:bodyPr/>
                    <a:lstStyle/>
                    <a:p>
                      <a:r>
                        <a:rPr lang="en-IN" sz="3200" b="0" dirty="0">
                          <a:solidFill>
                            <a:schemeClr val="tx1"/>
                          </a:solidFill>
                        </a:rPr>
                        <a:t>IDE</a:t>
                      </a:r>
                    </a:p>
                  </a:txBody>
                  <a:tcPr marL="91441" marR="91441">
                    <a:solidFill>
                      <a:schemeClr val="bg1"/>
                    </a:solidFill>
                  </a:tcPr>
                </a:tc>
                <a:tc>
                  <a:txBody>
                    <a:bodyPr/>
                    <a:lstStyle/>
                    <a:p>
                      <a:r>
                        <a:rPr lang="en-IN" sz="3200" b="0" dirty="0">
                          <a:solidFill>
                            <a:schemeClr val="tx1"/>
                          </a:solidFill>
                        </a:rPr>
                        <a:t>: ANACONDA (JUPITER)</a:t>
                      </a:r>
                    </a:p>
                  </a:txBody>
                  <a:tcPr marL="91441" marR="91441">
                    <a:solidFill>
                      <a:schemeClr val="bg1"/>
                    </a:solidFill>
                  </a:tcPr>
                </a:tc>
                <a:extLst>
                  <a:ext uri="{0D108BD9-81ED-4DB2-BD59-A6C34878D82A}">
                    <a16:rowId xmlns:a16="http://schemas.microsoft.com/office/drawing/2014/main" val="10001"/>
                  </a:ext>
                </a:extLst>
              </a:tr>
              <a:tr h="1069848">
                <a:tc>
                  <a:txBody>
                    <a:bodyPr/>
                    <a:lstStyle/>
                    <a:p>
                      <a:r>
                        <a:rPr lang="en-IN" sz="3200" b="0" dirty="0">
                          <a:solidFill>
                            <a:schemeClr val="tx1"/>
                          </a:solidFill>
                        </a:rPr>
                        <a:t>TECHNOLOGY</a:t>
                      </a:r>
                    </a:p>
                  </a:txBody>
                  <a:tcPr marL="91441" marR="91441">
                    <a:solidFill>
                      <a:schemeClr val="bg1"/>
                    </a:solidFill>
                  </a:tcPr>
                </a:tc>
                <a:tc>
                  <a:txBody>
                    <a:bodyPr/>
                    <a:lstStyle/>
                    <a:p>
                      <a:r>
                        <a:rPr lang="en-IN" sz="3200" b="0" dirty="0">
                          <a:solidFill>
                            <a:schemeClr val="tx1"/>
                          </a:solidFill>
                        </a:rPr>
                        <a:t>: PYTHON</a:t>
                      </a:r>
                    </a:p>
                  </a:txBody>
                  <a:tcPr marL="91441" marR="91441">
                    <a:solidFill>
                      <a:schemeClr val="bg1"/>
                    </a:solidFill>
                  </a:tcPr>
                </a:tc>
                <a:extLst>
                  <a:ext uri="{0D108BD9-81ED-4DB2-BD59-A6C34878D82A}">
                    <a16:rowId xmlns:a16="http://schemas.microsoft.com/office/drawing/2014/main" val="10002"/>
                  </a:ext>
                </a:extLst>
              </a:tr>
              <a:tr h="1069848">
                <a:tc>
                  <a:txBody>
                    <a:bodyPr/>
                    <a:lstStyle/>
                    <a:p>
                      <a:r>
                        <a:rPr lang="en-IN" sz="3200" b="0" dirty="0"/>
                        <a:t>DATA FILE TYPE</a:t>
                      </a:r>
                    </a:p>
                  </a:txBody>
                  <a:tcPr marL="91441" marR="91441">
                    <a:solidFill>
                      <a:schemeClr val="bg1"/>
                    </a:solidFill>
                  </a:tcPr>
                </a:tc>
                <a:tc>
                  <a:txBody>
                    <a:bodyPr/>
                    <a:lstStyle/>
                    <a:p>
                      <a:r>
                        <a:rPr lang="en-IN" sz="3200" b="0" dirty="0"/>
                        <a:t>: CSV</a:t>
                      </a:r>
                    </a:p>
                  </a:txBody>
                  <a:tcPr marL="91441" marR="91441">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048622"/>
          <p:cNvSpPr>
            <a:spLocks noGrp="1"/>
          </p:cNvSpPr>
          <p:nvPr>
            <p:ph type="title"/>
          </p:nvPr>
        </p:nvSpPr>
        <p:spPr/>
        <p:txBody>
          <a:bodyPr/>
          <a:lstStyle/>
          <a:p>
            <a:r>
              <a:rPr lang="en-US" altLang="en" sz="7100" b="1"/>
              <a:t>Algorithms:</a:t>
            </a:r>
            <a:endParaRPr lang="en-GB" sz="7100" b="1"/>
          </a:p>
        </p:txBody>
      </p:sp>
      <p:sp>
        <p:nvSpPr>
          <p:cNvPr id="1048624" name="Content Placeholder 1048623"/>
          <p:cNvSpPr>
            <a:spLocks noGrp="1"/>
          </p:cNvSpPr>
          <p:nvPr>
            <p:ph idx="1"/>
          </p:nvPr>
        </p:nvSpPr>
        <p:spPr/>
        <p:txBody>
          <a:bodyPr/>
          <a:lstStyle/>
          <a:p>
            <a:r>
              <a:rPr lang="en-US" altLang="en" sz="5400" dirty="0"/>
              <a:t>1.KNN(K-Nearest </a:t>
            </a:r>
            <a:r>
              <a:rPr lang="en-US" altLang="en" sz="5400" dirty="0" err="1"/>
              <a:t>Neighbours</a:t>
            </a:r>
            <a:r>
              <a:rPr lang="en-US" altLang="en" sz="5400" dirty="0"/>
              <a:t>)</a:t>
            </a:r>
            <a:endParaRPr lang="en-GB" sz="5400" dirty="0"/>
          </a:p>
          <a:p>
            <a:r>
              <a:rPr lang="en-US" altLang="en" sz="5400" dirty="0"/>
              <a:t>2.Naive Bayes</a:t>
            </a:r>
            <a:endParaRPr lang="en-GB" sz="5400" dirty="0"/>
          </a:p>
          <a:p>
            <a:r>
              <a:rPr lang="en-US" altLang="en" sz="5400" dirty="0"/>
              <a:t>3.Decision tree</a:t>
            </a:r>
            <a:endParaRPr lang="en-GB" sz="5400" dirty="0"/>
          </a:p>
          <a:p>
            <a:r>
              <a:rPr lang="en-US" altLang="en" sz="5400" dirty="0"/>
              <a:t>4.Random Forest</a:t>
            </a:r>
            <a:endParaRPr lang="en-GB" sz="5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Title 1048624"/>
          <p:cNvSpPr>
            <a:spLocks noGrp="1"/>
          </p:cNvSpPr>
          <p:nvPr>
            <p:ph type="title"/>
          </p:nvPr>
        </p:nvSpPr>
        <p:spPr>
          <a:xfrm>
            <a:off x="905951" y="-480647"/>
            <a:ext cx="10058400" cy="2166186"/>
          </a:xfrm>
        </p:spPr>
        <p:txBody>
          <a:bodyPr/>
          <a:lstStyle/>
          <a:p>
            <a:r>
              <a:rPr lang="en-GB" sz="3000" b="1">
                <a:solidFill>
                  <a:srgbClr val="000000"/>
                </a:solidFill>
              </a:rPr>
              <a:t> </a:t>
            </a:r>
            <a:r>
              <a:rPr lang="en-US" altLang="en" sz="3000" b="1">
                <a:solidFill>
                  <a:srgbClr val="000000"/>
                </a:solidFill>
              </a:rPr>
              <a:t>K</a:t>
            </a:r>
            <a:r>
              <a:rPr lang="en-GB" sz="3000" b="1">
                <a:solidFill>
                  <a:srgbClr val="000000"/>
                </a:solidFill>
              </a:rPr>
              <a:t>– Nearest </a:t>
            </a:r>
            <a:r>
              <a:rPr lang="en-US" altLang="en" sz="3000" b="1">
                <a:solidFill>
                  <a:srgbClr val="000000"/>
                </a:solidFill>
              </a:rPr>
              <a:t>Neighbour:</a:t>
            </a:r>
            <a:endParaRPr lang="en-GB" sz="3000" b="1"/>
          </a:p>
        </p:txBody>
      </p:sp>
      <p:sp>
        <p:nvSpPr>
          <p:cNvPr id="1048626" name="Content Placeholder 1048625"/>
          <p:cNvSpPr>
            <a:spLocks noGrp="1"/>
          </p:cNvSpPr>
          <p:nvPr>
            <p:ph idx="1"/>
          </p:nvPr>
        </p:nvSpPr>
        <p:spPr>
          <a:xfrm>
            <a:off x="1231052" y="1833876"/>
            <a:ext cx="10058400" cy="4023360"/>
          </a:xfrm>
        </p:spPr>
        <p:txBody>
          <a:bodyPr/>
          <a:lstStyle/>
          <a:p>
            <a:r>
              <a:rPr lang="en-US" altLang="en" sz="2600" dirty="0"/>
              <a:t>1.</a:t>
            </a:r>
            <a:r>
              <a:rPr lang="en-GB" sz="2600" dirty="0">
                <a:solidFill>
                  <a:srgbClr val="000000"/>
                </a:solidFill>
              </a:rPr>
              <a:t>In 1951, Hodges  et al.  introduced a  nonparametric technique  for pattern  classification  which  is  popularly  known  the  K-Nearest </a:t>
            </a:r>
            <a:r>
              <a:rPr lang="en-US" altLang="en" sz="2600" dirty="0" err="1">
                <a:solidFill>
                  <a:srgbClr val="000000"/>
                </a:solidFill>
              </a:rPr>
              <a:t>Neighbour</a:t>
            </a:r>
            <a:r>
              <a:rPr lang="en-US" altLang="en" sz="2600" dirty="0">
                <a:solidFill>
                  <a:srgbClr val="000000"/>
                </a:solidFill>
              </a:rPr>
              <a:t>.</a:t>
            </a:r>
            <a:endParaRPr lang="en-GB" sz="2600" dirty="0"/>
          </a:p>
          <a:p>
            <a:r>
              <a:rPr lang="en-US" altLang="en" sz="2600" dirty="0">
                <a:solidFill>
                  <a:srgbClr val="000000"/>
                </a:solidFill>
              </a:rPr>
              <a:t>2.</a:t>
            </a:r>
            <a:r>
              <a:rPr lang="en-GB" sz="2600" dirty="0">
                <a:solidFill>
                  <a:srgbClr val="000000"/>
                </a:solidFill>
              </a:rPr>
              <a:t>K-Nearest Neighbour technique is one of the most  elementary  but  very  effective  classification  techniques.</a:t>
            </a:r>
            <a:endParaRPr lang="en-GB" sz="2600" dirty="0"/>
          </a:p>
          <a:p>
            <a:r>
              <a:rPr lang="en-US" altLang="en" sz="2600" dirty="0">
                <a:solidFill>
                  <a:srgbClr val="000000"/>
                </a:solidFill>
              </a:rPr>
              <a:t>3.</a:t>
            </a:r>
            <a:r>
              <a:rPr lang="en-GB" sz="2600" dirty="0">
                <a:solidFill>
                  <a:srgbClr val="000000"/>
                </a:solidFill>
              </a:rPr>
              <a:t>It makes no assumptions about the data and is generally be used for classification tasks when there is very less or no prior knowledge about the data distribution.   </a:t>
            </a:r>
            <a:endParaRPr lang="en-GB"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extBox 1048626"/>
          <p:cNvSpPr txBox="1"/>
          <p:nvPr/>
        </p:nvSpPr>
        <p:spPr>
          <a:xfrm>
            <a:off x="844946" y="1027741"/>
            <a:ext cx="10502106" cy="2323713"/>
          </a:xfrm>
          <a:prstGeom prst="rect">
            <a:avLst/>
          </a:prstGeom>
        </p:spPr>
        <p:txBody>
          <a:bodyPr wrap="square" rtlCol="0">
            <a:spAutoFit/>
          </a:bodyPr>
          <a:lstStyle/>
          <a:p>
            <a:r>
              <a:rPr lang="en-US" altLang="en" sz="2900" dirty="0">
                <a:solidFill>
                  <a:srgbClr val="000000"/>
                </a:solidFill>
              </a:rPr>
              <a:t>4.</a:t>
            </a:r>
            <a:r>
              <a:rPr lang="en-GB" sz="2900" dirty="0">
                <a:solidFill>
                  <a:srgbClr val="000000"/>
                </a:solidFill>
              </a:rPr>
              <a:t>This algorithm involves finding the k nearest data points in the training set to the data point for which a target value is unavailable and assigning the average value of the found data points to it.</a:t>
            </a:r>
          </a:p>
          <a:p>
            <a:r>
              <a:rPr lang="en-US" altLang="en" sz="2900" dirty="0">
                <a:solidFill>
                  <a:srgbClr val="000000"/>
                </a:solidFill>
              </a:rPr>
              <a:t>5.It uses following equations.</a:t>
            </a:r>
            <a:endParaRPr lang="en-GB" sz="2900" dirty="0">
              <a:solidFill>
                <a:srgbClr val="000000"/>
              </a:solidFill>
            </a:endParaRPr>
          </a:p>
          <a:p>
            <a:endParaRPr lang="en-GB" sz="2900" b="1" dirty="0">
              <a:solidFill>
                <a:srgbClr val="000000"/>
              </a:solidFill>
            </a:endParaRPr>
          </a:p>
        </p:txBody>
      </p:sp>
      <p:pic>
        <p:nvPicPr>
          <p:cNvPr id="2097157" name="Picture 2097156"/>
          <p:cNvPicPr>
            <a:picLocks/>
          </p:cNvPicPr>
          <p:nvPr/>
        </p:nvPicPr>
        <p:blipFill>
          <a:blip r:embed="rId2"/>
          <a:stretch>
            <a:fillRect/>
          </a:stretch>
        </p:blipFill>
        <p:spPr>
          <a:xfrm>
            <a:off x="1102508" y="4318356"/>
            <a:ext cx="6997708" cy="1756287"/>
          </a:xfrm>
          <a:prstGeom prst="rect">
            <a:avLst/>
          </a:prstGeom>
        </p:spPr>
      </p:pic>
      <p:pic>
        <p:nvPicPr>
          <p:cNvPr id="2097158" name="Picture 2097157"/>
          <p:cNvPicPr>
            <a:picLocks/>
          </p:cNvPicPr>
          <p:nvPr/>
        </p:nvPicPr>
        <p:blipFill>
          <a:blip r:embed="rId3"/>
          <a:stretch>
            <a:fillRect/>
          </a:stretch>
        </p:blipFill>
        <p:spPr>
          <a:xfrm>
            <a:off x="5331935" y="3123940"/>
            <a:ext cx="5460381" cy="31954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048601"/>
          <p:cNvSpPr>
            <a:spLocks noGrp="1"/>
          </p:cNvSpPr>
          <p:nvPr>
            <p:ph type="title"/>
          </p:nvPr>
        </p:nvSpPr>
        <p:spPr/>
        <p:txBody>
          <a:bodyPr/>
          <a:lstStyle/>
          <a:p>
            <a:r>
              <a:rPr lang="en-US" altLang="en" dirty="0"/>
              <a:t>Naïve Bayes </a:t>
            </a:r>
            <a:endParaRPr lang="en-GB" dirty="0"/>
          </a:p>
        </p:txBody>
      </p:sp>
      <p:sp>
        <p:nvSpPr>
          <p:cNvPr id="1048603" name="TextBox 1048602"/>
          <p:cNvSpPr txBox="1"/>
          <p:nvPr/>
        </p:nvSpPr>
        <p:spPr>
          <a:xfrm>
            <a:off x="1097280" y="1737360"/>
            <a:ext cx="10322396" cy="4093428"/>
          </a:xfrm>
          <a:prstGeom prst="rect">
            <a:avLst/>
          </a:prstGeom>
        </p:spPr>
        <p:txBody>
          <a:bodyPr wrap="square" rtlCol="0">
            <a:spAutoFit/>
          </a:bodyPr>
          <a:lstStyle/>
          <a:p>
            <a:r>
              <a:rPr lang="en-US" altLang="en" sz="2600" dirty="0">
                <a:solidFill>
                  <a:srgbClr val="000000"/>
                </a:solidFill>
              </a:rPr>
              <a:t>1.</a:t>
            </a:r>
            <a:r>
              <a:rPr lang="en-GB" sz="2600" dirty="0">
                <a:solidFill>
                  <a:srgbClr val="000000"/>
                </a:solidFill>
              </a:rPr>
              <a:t>Naive Bayes is a simple but  an effective classification  technique </a:t>
            </a:r>
          </a:p>
          <a:p>
            <a:r>
              <a:rPr lang="en-US" altLang="en" sz="2600" dirty="0">
                <a:solidFill>
                  <a:srgbClr val="000000"/>
                </a:solidFill>
              </a:rPr>
              <a:t>    </a:t>
            </a:r>
            <a:r>
              <a:rPr lang="en-GB" sz="2600" dirty="0">
                <a:solidFill>
                  <a:srgbClr val="000000"/>
                </a:solidFill>
              </a:rPr>
              <a:t>which is  based on the  Bayes Theorem.</a:t>
            </a:r>
          </a:p>
          <a:p>
            <a:r>
              <a:rPr lang="en-GB" sz="2600" dirty="0">
                <a:solidFill>
                  <a:srgbClr val="000000"/>
                </a:solidFill>
              </a:rPr>
              <a:t> </a:t>
            </a:r>
          </a:p>
          <a:p>
            <a:r>
              <a:rPr lang="en-US" altLang="en" sz="2600" dirty="0">
                <a:solidFill>
                  <a:srgbClr val="000000"/>
                </a:solidFill>
              </a:rPr>
              <a:t>2.</a:t>
            </a:r>
            <a:r>
              <a:rPr lang="en-GB" sz="2600" dirty="0">
                <a:solidFill>
                  <a:srgbClr val="000000"/>
                </a:solidFill>
              </a:rPr>
              <a:t> It assumes  independence among  predictors,  i.e.,  the  attributes  or  features  should  be  not correlated to one another or should not,  in anyway, be related to each other.</a:t>
            </a:r>
          </a:p>
          <a:p>
            <a:r>
              <a:rPr lang="en-GB" sz="2600" dirty="0">
                <a:solidFill>
                  <a:srgbClr val="000000"/>
                </a:solidFill>
              </a:rPr>
              <a:t> </a:t>
            </a:r>
          </a:p>
          <a:p>
            <a:r>
              <a:rPr lang="en-US" altLang="en" sz="2600" dirty="0">
                <a:solidFill>
                  <a:srgbClr val="000000"/>
                </a:solidFill>
              </a:rPr>
              <a:t>3.</a:t>
            </a:r>
            <a:r>
              <a:rPr lang="en-GB" sz="2600" dirty="0">
                <a:solidFill>
                  <a:srgbClr val="000000"/>
                </a:solidFill>
              </a:rPr>
              <a:t>Even if  there is dependency, still  all these features  or attributes  independently contribute  to the  probability and  that is why it is called </a:t>
            </a:r>
            <a:r>
              <a:rPr lang="en-US" altLang="en" sz="2600" dirty="0">
                <a:solidFill>
                  <a:srgbClr val="000000"/>
                </a:solidFill>
              </a:rPr>
              <a:t>Naïve. </a:t>
            </a:r>
            <a:endParaRPr lang="en-GB" sz="2600" dirty="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Title 1048686"/>
          <p:cNvSpPr>
            <a:spLocks noGrp="1"/>
          </p:cNvSpPr>
          <p:nvPr>
            <p:ph type="title"/>
          </p:nvPr>
        </p:nvSpPr>
        <p:spPr>
          <a:xfrm>
            <a:off x="609201" y="0"/>
            <a:ext cx="10058400" cy="1450757"/>
          </a:xfrm>
        </p:spPr>
        <p:txBody>
          <a:bodyPr/>
          <a:lstStyle/>
          <a:p>
            <a:r>
              <a:rPr lang="en-US" altLang="en" sz="4100" b="1"/>
              <a:t>4.we use following Bayes Theorem formula. </a:t>
            </a:r>
            <a:endParaRPr lang="en-GB" sz="4100" b="1"/>
          </a:p>
        </p:txBody>
      </p:sp>
      <p:pic>
        <p:nvPicPr>
          <p:cNvPr id="2097156" name="Picture 2097155"/>
          <p:cNvPicPr>
            <a:picLocks/>
          </p:cNvPicPr>
          <p:nvPr/>
        </p:nvPicPr>
        <p:blipFill>
          <a:blip r:embed="rId2"/>
          <a:stretch>
            <a:fillRect/>
          </a:stretch>
        </p:blipFill>
        <p:spPr>
          <a:xfrm>
            <a:off x="2070273" y="1812046"/>
            <a:ext cx="6500521" cy="32339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048599"/>
          <p:cNvSpPr>
            <a:spLocks noGrp="1"/>
          </p:cNvSpPr>
          <p:nvPr>
            <p:ph type="title"/>
          </p:nvPr>
        </p:nvSpPr>
        <p:spPr/>
        <p:txBody>
          <a:bodyPr/>
          <a:lstStyle/>
          <a:p>
            <a:r>
              <a:rPr lang="en-US" altLang="en" dirty="0"/>
              <a:t>Decision Tree:</a:t>
            </a:r>
            <a:endParaRPr lang="en-GB" dirty="0"/>
          </a:p>
        </p:txBody>
      </p:sp>
      <p:sp>
        <p:nvSpPr>
          <p:cNvPr id="1048601" name="Content Placeholder 1048600"/>
          <p:cNvSpPr>
            <a:spLocks noGrp="1"/>
          </p:cNvSpPr>
          <p:nvPr>
            <p:ph idx="1"/>
          </p:nvPr>
        </p:nvSpPr>
        <p:spPr>
          <a:xfrm>
            <a:off x="1421040" y="1737359"/>
            <a:ext cx="10770960" cy="4603071"/>
          </a:xfrm>
        </p:spPr>
        <p:txBody>
          <a:bodyPr/>
          <a:lstStyle/>
          <a:p>
            <a:r>
              <a:rPr lang="en-US" altLang="en" sz="2600" dirty="0"/>
              <a:t>1.</a:t>
            </a:r>
            <a:r>
              <a:rPr lang="en-GB" sz="2600" dirty="0"/>
              <a:t>Decision Tree Decision tree is a of supervised learning algorithm.</a:t>
            </a:r>
          </a:p>
          <a:p>
            <a:r>
              <a:rPr lang="en-US" altLang="en" sz="2600" dirty="0"/>
              <a:t>2.</a:t>
            </a:r>
            <a:r>
              <a:rPr lang="en-GB" sz="2600" dirty="0"/>
              <a:t>This technique is mostly used in classification problems.  </a:t>
            </a:r>
          </a:p>
          <a:p>
            <a:r>
              <a:rPr lang="en-US" altLang="en" sz="2600" dirty="0"/>
              <a:t>3.</a:t>
            </a:r>
            <a:r>
              <a:rPr lang="en-GB" sz="2600" dirty="0"/>
              <a:t>It performs effortlessly with continuous  and  categorical  attributes.  </a:t>
            </a:r>
          </a:p>
          <a:p>
            <a:r>
              <a:rPr lang="en-US" altLang="en" sz="2600" dirty="0"/>
              <a:t>4.</a:t>
            </a:r>
            <a:r>
              <a:rPr lang="en-GB" sz="2600" dirty="0"/>
              <a:t>This  algorithm divides the population into two  or more similar sets  based on  the most significant predictors.</a:t>
            </a:r>
          </a:p>
          <a:p>
            <a:r>
              <a:rPr lang="en-US" altLang="en" sz="2600" dirty="0"/>
              <a:t>5.</a:t>
            </a:r>
            <a:r>
              <a:rPr lang="en-GB" sz="2600" dirty="0"/>
              <a:t>Decision Tree algorithm, first calculates the entropy of  each and  every attribute.  Then the dataset is  split with  the  help  of  the variables  or  predictors  with  maximum information  gain  or  minimum  entropy.  These  two  steps  are performed recursively with the remaining attributes.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6" name="Title 1048685"/>
          <p:cNvSpPr>
            <a:spLocks noGrp="1"/>
          </p:cNvSpPr>
          <p:nvPr>
            <p:ph type="title"/>
          </p:nvPr>
        </p:nvSpPr>
        <p:spPr/>
        <p:txBody>
          <a:bodyPr/>
          <a:lstStyle/>
          <a:p>
            <a:endParaRPr lang="en-GB"/>
          </a:p>
        </p:txBody>
      </p:sp>
      <p:pic>
        <p:nvPicPr>
          <p:cNvPr id="2097155" name="Picture 2097154"/>
          <p:cNvPicPr>
            <a:picLocks/>
          </p:cNvPicPr>
          <p:nvPr/>
        </p:nvPicPr>
        <p:blipFill>
          <a:blip r:embed="rId2"/>
          <a:stretch>
            <a:fillRect/>
          </a:stretch>
        </p:blipFill>
        <p:spPr>
          <a:xfrm>
            <a:off x="746508" y="0"/>
            <a:ext cx="11156872" cy="61418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048597"/>
          <p:cNvSpPr>
            <a:spLocks noGrp="1"/>
          </p:cNvSpPr>
          <p:nvPr>
            <p:ph type="title"/>
          </p:nvPr>
        </p:nvSpPr>
        <p:spPr>
          <a:xfrm>
            <a:off x="1097279" y="286603"/>
            <a:ext cx="10058400" cy="1450757"/>
          </a:xfrm>
        </p:spPr>
        <p:txBody>
          <a:bodyPr/>
          <a:lstStyle/>
          <a:p>
            <a:r>
              <a:rPr lang="en-US" altLang="en" b="1" dirty="0"/>
              <a:t>Random Forest:</a:t>
            </a:r>
            <a:endParaRPr lang="en-GB" b="1" dirty="0"/>
          </a:p>
        </p:txBody>
      </p:sp>
      <p:sp>
        <p:nvSpPr>
          <p:cNvPr id="1048599" name="Content Placeholder 1048598"/>
          <p:cNvSpPr>
            <a:spLocks noGrp="1"/>
          </p:cNvSpPr>
          <p:nvPr>
            <p:ph idx="1"/>
          </p:nvPr>
        </p:nvSpPr>
        <p:spPr>
          <a:xfrm>
            <a:off x="1097278" y="1737360"/>
            <a:ext cx="10582302" cy="4023360"/>
          </a:xfrm>
        </p:spPr>
        <p:txBody>
          <a:bodyPr/>
          <a:lstStyle/>
          <a:p>
            <a:r>
              <a:rPr lang="en-GB" sz="2300" dirty="0"/>
              <a:t> </a:t>
            </a:r>
            <a:r>
              <a:rPr lang="en-US" altLang="en" sz="2300" dirty="0"/>
              <a:t>1.</a:t>
            </a:r>
            <a:r>
              <a:rPr lang="en-GB" sz="2300" dirty="0"/>
              <a:t> Random  Forest is  also a  popular supervised  machine  learning </a:t>
            </a:r>
            <a:r>
              <a:rPr lang="en-US" altLang="en" sz="2300" dirty="0"/>
              <a:t>algorithm. </a:t>
            </a:r>
            <a:endParaRPr lang="en-GB" sz="2300" dirty="0"/>
          </a:p>
          <a:p>
            <a:r>
              <a:rPr lang="en-US" altLang="en" sz="2300" dirty="0"/>
              <a:t>2</a:t>
            </a:r>
            <a:r>
              <a:rPr lang="en-GB" sz="2300" dirty="0"/>
              <a:t>.This  technique  can  be  used  for  both  regression  and classification tasks but generally performs better  in classification tasks. As the name suggests, Random Forest technique considers multiple decision trees before giving an output.</a:t>
            </a:r>
          </a:p>
          <a:p>
            <a:r>
              <a:rPr lang="en-US" altLang="en" sz="2300" dirty="0"/>
              <a:t>3.</a:t>
            </a:r>
            <a:r>
              <a:rPr lang="en-GB" sz="2300" dirty="0"/>
              <a:t> So, it is basically an  ensemble  of  decision  trees.  This  technique  is  based  on  the belief  that  more  number  of  trees  would  converge  to  the  right decision. </a:t>
            </a:r>
          </a:p>
          <a:p>
            <a:r>
              <a:rPr lang="en-US" altLang="en" sz="2300" dirty="0"/>
              <a:t>4</a:t>
            </a:r>
            <a:r>
              <a:rPr lang="en-GB" sz="2300" dirty="0"/>
              <a:t> For  classification,  it  uses  a  voting  system  and  then decides the class whereas in regression it takes the mean of all the outputs  of  each  of  the decision  trees.  It  works  well  with  large datasets with high dimensionality.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Title 1048684"/>
          <p:cNvSpPr>
            <a:spLocks noGrp="1"/>
          </p:cNvSpPr>
          <p:nvPr>
            <p:ph type="title"/>
          </p:nvPr>
        </p:nvSpPr>
        <p:spPr>
          <a:xfrm>
            <a:off x="1066800" y="-482948"/>
            <a:ext cx="10058400" cy="1450757"/>
          </a:xfrm>
        </p:spPr>
        <p:txBody>
          <a:bodyPr/>
          <a:lstStyle/>
          <a:p>
            <a:r>
              <a:rPr lang="en-US" altLang="en"/>
              <a:t>Fig4:Random forest</a:t>
            </a:r>
            <a:endParaRPr lang="en-GB"/>
          </a:p>
        </p:txBody>
      </p:sp>
      <p:pic>
        <p:nvPicPr>
          <p:cNvPr id="2097154" name="Picture 2097153"/>
          <p:cNvPicPr>
            <a:picLocks/>
          </p:cNvPicPr>
          <p:nvPr/>
        </p:nvPicPr>
        <p:blipFill>
          <a:blip r:embed="rId2"/>
          <a:stretch>
            <a:fillRect/>
          </a:stretch>
        </p:blipFill>
        <p:spPr>
          <a:xfrm>
            <a:off x="900675" y="0"/>
            <a:ext cx="9525751" cy="636801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8586D-FDDA-49C4-B46C-880CB901D0FD}"/>
              </a:ext>
            </a:extLst>
          </p:cNvPr>
          <p:cNvSpPr>
            <a:spLocks noGrp="1"/>
          </p:cNvSpPr>
          <p:nvPr>
            <p:ph type="title"/>
          </p:nvPr>
        </p:nvSpPr>
        <p:spPr/>
        <p:txBody>
          <a:bodyPr/>
          <a:lstStyle/>
          <a:p>
            <a:r>
              <a:rPr lang="en-IN" b="1" dirty="0"/>
              <a:t>System Architecture</a:t>
            </a:r>
            <a:endParaRPr lang="en-IN" dirty="0"/>
          </a:p>
        </p:txBody>
      </p:sp>
      <p:pic>
        <p:nvPicPr>
          <p:cNvPr id="3" name="Picture 2">
            <a:extLst>
              <a:ext uri="{FF2B5EF4-FFF2-40B4-BE49-F238E27FC236}">
                <a16:creationId xmlns:a16="http://schemas.microsoft.com/office/drawing/2014/main" id="{321E4AA8-1116-40B9-88A9-8CA80CDFB80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237230" y="2034222"/>
            <a:ext cx="4809490" cy="3978275"/>
          </a:xfrm>
          <a:prstGeom prst="rect">
            <a:avLst/>
          </a:prstGeom>
          <a:noFill/>
          <a:ln>
            <a:noFill/>
          </a:ln>
        </p:spPr>
      </p:pic>
    </p:spTree>
    <p:extLst>
      <p:ext uri="{BB962C8B-B14F-4D97-AF65-F5344CB8AC3E}">
        <p14:creationId xmlns:p14="http://schemas.microsoft.com/office/powerpoint/2010/main" val="4271884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B7A0EE-9DC5-4402-9A7B-33EA50030CDE}"/>
              </a:ext>
            </a:extLst>
          </p:cNvPr>
          <p:cNvSpPr/>
          <p:nvPr/>
        </p:nvSpPr>
        <p:spPr>
          <a:xfrm>
            <a:off x="731520" y="828512"/>
            <a:ext cx="10972800" cy="4674165"/>
          </a:xfrm>
          <a:prstGeom prst="rect">
            <a:avLst/>
          </a:prstGeom>
        </p:spPr>
        <p:txBody>
          <a:bodyPr wrap="square">
            <a:spAutoFit/>
          </a:bodyPr>
          <a:lstStyle/>
          <a:p>
            <a:pPr algn="just">
              <a:lnSpc>
                <a:spcPct val="107000"/>
              </a:lnSpc>
              <a:spcAft>
                <a:spcPts val="800"/>
              </a:spcAft>
            </a:pPr>
            <a:r>
              <a:rPr lang="en-IN" sz="2400" b="1" u="sng" dirty="0">
                <a:ea typeface="Calibri" panose="020F0502020204030204" pitchFamily="34" charset="0"/>
                <a:cs typeface="Times New Roman" panose="02020603050405020304" pitchFamily="18" charset="0"/>
              </a:rPr>
              <a:t>Input Data</a:t>
            </a:r>
            <a:endParaRPr lang="en-IN" sz="2400" u="sng" dirty="0">
              <a:ea typeface="Calibri" panose="020F0502020204030204" pitchFamily="34" charset="0"/>
              <a:cs typeface="Times New Roman" panose="02020603050405020304" pitchFamily="18" charset="0"/>
            </a:endParaRPr>
          </a:p>
          <a:p>
            <a:pPr algn="just">
              <a:lnSpc>
                <a:spcPct val="107000"/>
              </a:lnSpc>
              <a:spcAft>
                <a:spcPts val="800"/>
              </a:spcAft>
            </a:pPr>
            <a:r>
              <a:rPr lang="en-IN" sz="2000" b="1" dirty="0">
                <a:ea typeface="Calibri" panose="020F0502020204030204" pitchFamily="34" charset="0"/>
                <a:cs typeface="Times New Roman" panose="02020603050405020304" pitchFamily="18" charset="0"/>
              </a:rPr>
              <a:t>	</a:t>
            </a:r>
            <a:r>
              <a:rPr lang="en-IN" sz="2000" dirty="0"/>
              <a:t>First the data set is read for further process. This source is a comma separated file (CSV).</a:t>
            </a:r>
            <a:endParaRPr lang="en-IN" sz="2000" dirty="0">
              <a:ea typeface="Calibri" panose="020F0502020204030204" pitchFamily="34" charset="0"/>
              <a:cs typeface="Times New Roman" panose="02020603050405020304" pitchFamily="18" charset="0"/>
            </a:endParaRPr>
          </a:p>
          <a:p>
            <a:pPr algn="just">
              <a:lnSpc>
                <a:spcPct val="107000"/>
              </a:lnSpc>
              <a:spcAft>
                <a:spcPts val="800"/>
              </a:spcAft>
            </a:pPr>
            <a:r>
              <a:rPr lang="en-IN" sz="2400" b="1" u="sng" dirty="0" err="1">
                <a:ea typeface="Calibri" panose="020F0502020204030204" pitchFamily="34" charset="0"/>
                <a:cs typeface="Times New Roman" panose="02020603050405020304" pitchFamily="18" charset="0"/>
              </a:rPr>
              <a:t>Preprocessing</a:t>
            </a:r>
            <a:endParaRPr lang="en-IN" sz="2400" u="sng" dirty="0">
              <a:ea typeface="Calibri" panose="020F0502020204030204" pitchFamily="34" charset="0"/>
              <a:cs typeface="Times New Roman" panose="02020603050405020304" pitchFamily="18" charset="0"/>
            </a:endParaRPr>
          </a:p>
          <a:p>
            <a:pPr algn="just">
              <a:lnSpc>
                <a:spcPct val="107000"/>
              </a:lnSpc>
              <a:spcAft>
                <a:spcPts val="800"/>
              </a:spcAft>
            </a:pPr>
            <a:r>
              <a:rPr lang="en-IN" sz="2000" b="1" dirty="0">
                <a:ea typeface="Calibri" panose="020F0502020204030204" pitchFamily="34" charset="0"/>
                <a:cs typeface="Times New Roman" panose="02020603050405020304" pitchFamily="18" charset="0"/>
              </a:rPr>
              <a:t>	</a:t>
            </a:r>
            <a:r>
              <a:rPr lang="en-IN" sz="2000" dirty="0">
                <a:ea typeface="Calibri" panose="020F0502020204030204" pitchFamily="34" charset="0"/>
                <a:cs typeface="Times New Roman" panose="02020603050405020304" pitchFamily="18" charset="0"/>
              </a:rPr>
              <a:t>The database contains </a:t>
            </a:r>
            <a:r>
              <a:rPr lang="en-IN" sz="2000" dirty="0" err="1">
                <a:ea typeface="Calibri" panose="020F0502020204030204" pitchFamily="34" charset="0"/>
                <a:cs typeface="Times New Roman" panose="02020603050405020304" pitchFamily="18" charset="0"/>
              </a:rPr>
              <a:t>NaN</a:t>
            </a:r>
            <a:r>
              <a:rPr lang="en-IN" sz="2000" dirty="0">
                <a:ea typeface="Calibri" panose="020F0502020204030204" pitchFamily="34" charset="0"/>
                <a:cs typeface="Times New Roman" panose="02020603050405020304" pitchFamily="18" charset="0"/>
              </a:rPr>
              <a:t> values. The </a:t>
            </a:r>
            <a:r>
              <a:rPr lang="en-IN" sz="2000" dirty="0" err="1">
                <a:ea typeface="Calibri" panose="020F0502020204030204" pitchFamily="34" charset="0"/>
                <a:cs typeface="Times New Roman" panose="02020603050405020304" pitchFamily="18" charset="0"/>
              </a:rPr>
              <a:t>NaN</a:t>
            </a:r>
            <a:r>
              <a:rPr lang="en-IN" sz="2000" dirty="0">
                <a:ea typeface="Calibri" panose="020F0502020204030204" pitchFamily="34" charset="0"/>
                <a:cs typeface="Times New Roman" panose="02020603050405020304" pitchFamily="18" charset="0"/>
              </a:rPr>
              <a:t> values cannot process by the programming hence these values need to convert into numerical values. In this approach mean of the column is calculated and </a:t>
            </a:r>
            <a:r>
              <a:rPr lang="en-IN" sz="2000" dirty="0" err="1">
                <a:ea typeface="Calibri" panose="020F0502020204030204" pitchFamily="34" charset="0"/>
                <a:cs typeface="Times New Roman" panose="02020603050405020304" pitchFamily="18" charset="0"/>
              </a:rPr>
              <a:t>NaN</a:t>
            </a:r>
            <a:r>
              <a:rPr lang="en-IN" sz="2000" dirty="0">
                <a:ea typeface="Calibri" panose="020F0502020204030204" pitchFamily="34" charset="0"/>
                <a:cs typeface="Times New Roman" panose="02020603050405020304" pitchFamily="18" charset="0"/>
              </a:rPr>
              <a:t> values are replaced by the mean.</a:t>
            </a:r>
          </a:p>
          <a:p>
            <a:pPr algn="just">
              <a:lnSpc>
                <a:spcPct val="107000"/>
              </a:lnSpc>
              <a:spcAft>
                <a:spcPts val="800"/>
              </a:spcAft>
            </a:pPr>
            <a:r>
              <a:rPr lang="en-IN" sz="2400" b="1" u="sng" dirty="0">
                <a:ea typeface="Calibri" panose="020F0502020204030204" pitchFamily="34" charset="0"/>
                <a:cs typeface="Times New Roman" panose="02020603050405020304" pitchFamily="18" charset="0"/>
              </a:rPr>
              <a:t>Splitting Data</a:t>
            </a:r>
            <a:endParaRPr lang="en-IN" sz="2400" u="sng" dirty="0">
              <a:ea typeface="Calibri" panose="020F0502020204030204" pitchFamily="34" charset="0"/>
              <a:cs typeface="Times New Roman" panose="02020603050405020304" pitchFamily="18" charset="0"/>
            </a:endParaRPr>
          </a:p>
          <a:p>
            <a:pPr algn="just">
              <a:lnSpc>
                <a:spcPct val="107000"/>
              </a:lnSpc>
              <a:spcAft>
                <a:spcPts val="800"/>
              </a:spcAft>
            </a:pPr>
            <a:r>
              <a:rPr lang="en-IN" sz="2000" b="1" dirty="0">
                <a:ea typeface="Calibri" panose="020F0502020204030204" pitchFamily="34" charset="0"/>
                <a:cs typeface="Times New Roman" panose="02020603050405020304" pitchFamily="18" charset="0"/>
              </a:rPr>
              <a:t>	</a:t>
            </a:r>
            <a:r>
              <a:rPr lang="en-IN" sz="2000" dirty="0">
                <a:ea typeface="Calibri" panose="020F0502020204030204" pitchFamily="34" charset="0"/>
                <a:cs typeface="Times New Roman" panose="02020603050405020304" pitchFamily="18" charset="0"/>
              </a:rPr>
              <a:t>The whole database is split into training and testing database. The 80% data is taken for training while remaining 20% data is used for testing.</a:t>
            </a:r>
          </a:p>
          <a:p>
            <a:pPr algn="just">
              <a:lnSpc>
                <a:spcPct val="107000"/>
              </a:lnSpc>
              <a:spcAft>
                <a:spcPts val="800"/>
              </a:spcAft>
            </a:pPr>
            <a:r>
              <a:rPr lang="en-IN" sz="2400" b="1" u="sng" dirty="0">
                <a:ea typeface="Calibri" panose="020F0502020204030204" pitchFamily="34" charset="0"/>
                <a:cs typeface="Times New Roman" panose="02020603050405020304" pitchFamily="18" charset="0"/>
              </a:rPr>
              <a:t>Training Data</a:t>
            </a:r>
            <a:endParaRPr lang="en-IN" sz="2400" u="sng" dirty="0">
              <a:ea typeface="Calibri" panose="020F0502020204030204" pitchFamily="34" charset="0"/>
              <a:cs typeface="Times New Roman" panose="02020603050405020304" pitchFamily="18" charset="0"/>
            </a:endParaRPr>
          </a:p>
          <a:p>
            <a:pPr algn="just">
              <a:lnSpc>
                <a:spcPct val="107000"/>
              </a:lnSpc>
              <a:spcAft>
                <a:spcPts val="800"/>
              </a:spcAft>
            </a:pPr>
            <a:r>
              <a:rPr lang="en-IN" sz="2000" b="1" dirty="0">
                <a:ea typeface="Calibri" panose="020F0502020204030204" pitchFamily="34" charset="0"/>
                <a:cs typeface="Times New Roman" panose="02020603050405020304" pitchFamily="18" charset="0"/>
              </a:rPr>
              <a:t>	</a:t>
            </a:r>
            <a:r>
              <a:rPr lang="en-IN" sz="2000" dirty="0">
                <a:ea typeface="Calibri" panose="020F0502020204030204" pitchFamily="34" charset="0"/>
                <a:cs typeface="Times New Roman" panose="02020603050405020304" pitchFamily="18" charset="0"/>
              </a:rPr>
              <a:t>This data is used to train the model.</a:t>
            </a:r>
          </a:p>
        </p:txBody>
      </p:sp>
    </p:spTree>
    <p:extLst>
      <p:ext uri="{BB962C8B-B14F-4D97-AF65-F5344CB8AC3E}">
        <p14:creationId xmlns:p14="http://schemas.microsoft.com/office/powerpoint/2010/main" val="2134338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612AA7-EBB5-456B-9B20-4A740573B5B4}"/>
              </a:ext>
            </a:extLst>
          </p:cNvPr>
          <p:cNvSpPr/>
          <p:nvPr/>
        </p:nvSpPr>
        <p:spPr>
          <a:xfrm>
            <a:off x="709002" y="764951"/>
            <a:ext cx="10447020" cy="3085845"/>
          </a:xfrm>
          <a:prstGeom prst="rect">
            <a:avLst/>
          </a:prstGeom>
        </p:spPr>
        <p:txBody>
          <a:bodyPr wrap="square">
            <a:spAutoFit/>
          </a:bodyPr>
          <a:lstStyle/>
          <a:p>
            <a:pPr algn="just">
              <a:lnSpc>
                <a:spcPct val="107000"/>
              </a:lnSpc>
              <a:spcAft>
                <a:spcPts val="800"/>
              </a:spcAft>
            </a:pPr>
            <a:r>
              <a:rPr lang="en-IN" sz="2400" b="1" u="sng" dirty="0">
                <a:ea typeface="Calibri" panose="020F0502020204030204" pitchFamily="34" charset="0"/>
                <a:cs typeface="Times New Roman" panose="02020603050405020304" pitchFamily="18" charset="0"/>
              </a:rPr>
              <a:t>Testing Data</a:t>
            </a:r>
            <a:endParaRPr lang="en-IN" sz="2400" u="sng" dirty="0">
              <a:ea typeface="Calibri" panose="020F0502020204030204" pitchFamily="34" charset="0"/>
              <a:cs typeface="Times New Roman" panose="02020603050405020304" pitchFamily="18" charset="0"/>
            </a:endParaRPr>
          </a:p>
          <a:p>
            <a:pPr algn="just">
              <a:lnSpc>
                <a:spcPct val="107000"/>
              </a:lnSpc>
              <a:spcAft>
                <a:spcPts val="800"/>
              </a:spcAft>
            </a:pPr>
            <a:r>
              <a:rPr lang="en-IN" sz="2000" b="1" dirty="0">
                <a:ea typeface="Calibri" panose="020F0502020204030204" pitchFamily="34" charset="0"/>
                <a:cs typeface="Times New Roman" panose="02020603050405020304" pitchFamily="18" charset="0"/>
              </a:rPr>
              <a:t>	</a:t>
            </a:r>
            <a:r>
              <a:rPr lang="en-IN" sz="2000" dirty="0">
                <a:ea typeface="Calibri" panose="020F0502020204030204" pitchFamily="34" charset="0"/>
                <a:cs typeface="Times New Roman" panose="02020603050405020304" pitchFamily="18" charset="0"/>
              </a:rPr>
              <a:t>This data is used to test the trained model for checking accuracy of output.</a:t>
            </a:r>
          </a:p>
          <a:p>
            <a:pPr algn="just">
              <a:lnSpc>
                <a:spcPct val="107000"/>
              </a:lnSpc>
              <a:spcAft>
                <a:spcPts val="800"/>
              </a:spcAft>
            </a:pPr>
            <a:r>
              <a:rPr lang="en-IN" sz="2400" b="1" u="sng" dirty="0">
                <a:ea typeface="Calibri" panose="020F0502020204030204" pitchFamily="34" charset="0"/>
                <a:cs typeface="Times New Roman" panose="02020603050405020304" pitchFamily="18" charset="0"/>
              </a:rPr>
              <a:t>Training</a:t>
            </a:r>
            <a:endParaRPr lang="en-IN" sz="2400" u="sng" dirty="0">
              <a:ea typeface="Calibri" panose="020F0502020204030204" pitchFamily="34" charset="0"/>
              <a:cs typeface="Times New Roman" panose="02020603050405020304" pitchFamily="18" charset="0"/>
            </a:endParaRPr>
          </a:p>
          <a:p>
            <a:pPr algn="just">
              <a:lnSpc>
                <a:spcPct val="107000"/>
              </a:lnSpc>
              <a:spcAft>
                <a:spcPts val="800"/>
              </a:spcAft>
            </a:pPr>
            <a:r>
              <a:rPr lang="en-IN" sz="2000" b="1" dirty="0">
                <a:ea typeface="Calibri" panose="020F0502020204030204" pitchFamily="34" charset="0"/>
                <a:cs typeface="Times New Roman" panose="02020603050405020304" pitchFamily="18" charset="0"/>
              </a:rPr>
              <a:t>	</a:t>
            </a:r>
            <a:r>
              <a:rPr lang="en-IN" sz="2000" dirty="0">
                <a:ea typeface="Calibri" panose="020F0502020204030204" pitchFamily="34" charset="0"/>
                <a:cs typeface="Times New Roman" panose="02020603050405020304" pitchFamily="18" charset="0"/>
              </a:rPr>
              <a:t>The model is trained for prediction purpose.</a:t>
            </a:r>
          </a:p>
          <a:p>
            <a:pPr algn="just">
              <a:lnSpc>
                <a:spcPct val="107000"/>
              </a:lnSpc>
              <a:spcAft>
                <a:spcPts val="800"/>
              </a:spcAft>
            </a:pPr>
            <a:r>
              <a:rPr lang="en-IN" sz="2400" b="1" u="sng" dirty="0">
                <a:ea typeface="Calibri" panose="020F0502020204030204" pitchFamily="34" charset="0"/>
                <a:cs typeface="Times New Roman" panose="02020603050405020304" pitchFamily="18" charset="0"/>
              </a:rPr>
              <a:t>Classification</a:t>
            </a:r>
            <a:endParaRPr lang="en-IN" sz="2400" u="sng" dirty="0">
              <a:ea typeface="Calibri" panose="020F0502020204030204" pitchFamily="34" charset="0"/>
              <a:cs typeface="Times New Roman" panose="02020603050405020304" pitchFamily="18" charset="0"/>
            </a:endParaRPr>
          </a:p>
          <a:p>
            <a:pPr algn="just">
              <a:lnSpc>
                <a:spcPct val="107000"/>
              </a:lnSpc>
              <a:spcAft>
                <a:spcPts val="800"/>
              </a:spcAft>
            </a:pPr>
            <a:r>
              <a:rPr lang="en-IN" b="1" dirty="0">
                <a:ea typeface="Calibri" panose="020F0502020204030204" pitchFamily="34" charset="0"/>
                <a:cs typeface="Times New Roman" panose="02020603050405020304" pitchFamily="18" charset="0"/>
              </a:rPr>
              <a:t>	</a:t>
            </a:r>
            <a:r>
              <a:rPr lang="en-IN" sz="2000" dirty="0">
                <a:ea typeface="Calibri" panose="020F0502020204030204" pitchFamily="34" charset="0"/>
                <a:cs typeface="Times New Roman" panose="02020603050405020304" pitchFamily="18" charset="0"/>
              </a:rPr>
              <a:t>The training data is trained by using four different machine learning algorithms i.e. Decision Tree, KNN, Random forest.</a:t>
            </a:r>
            <a:endParaRPr lang="en-IN"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6372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FA3D1FC-7F84-4D0F-9794-B7E0F17FA309}"/>
              </a:ext>
            </a:extLst>
          </p:cNvPr>
          <p:cNvPicPr>
            <a:picLocks noChangeAspect="1"/>
          </p:cNvPicPr>
          <p:nvPr/>
        </p:nvPicPr>
        <p:blipFill>
          <a:blip r:embed="rId2"/>
          <a:stretch>
            <a:fillRect/>
          </a:stretch>
        </p:blipFill>
        <p:spPr>
          <a:xfrm>
            <a:off x="1246756" y="2060813"/>
            <a:ext cx="9502329" cy="2526721"/>
          </a:xfrm>
          <a:prstGeom prst="rect">
            <a:avLst/>
          </a:prstGeom>
        </p:spPr>
      </p:pic>
      <p:sp>
        <p:nvSpPr>
          <p:cNvPr id="3" name="Title 2">
            <a:extLst>
              <a:ext uri="{FF2B5EF4-FFF2-40B4-BE49-F238E27FC236}">
                <a16:creationId xmlns:a16="http://schemas.microsoft.com/office/drawing/2014/main" id="{5692C0B8-3180-49BE-81BF-63EB6D3C28DE}"/>
              </a:ext>
            </a:extLst>
          </p:cNvPr>
          <p:cNvSpPr>
            <a:spLocks noGrp="1"/>
          </p:cNvSpPr>
          <p:nvPr>
            <p:ph type="title"/>
          </p:nvPr>
        </p:nvSpPr>
        <p:spPr/>
        <p:txBody>
          <a:bodyPr/>
          <a:lstStyle/>
          <a:p>
            <a:r>
              <a:rPr lang="en-US" dirty="0"/>
              <a:t>Data Set Sample</a:t>
            </a:r>
            <a:endParaRPr lang="en-IN" dirty="0"/>
          </a:p>
        </p:txBody>
      </p:sp>
    </p:spTree>
    <p:extLst>
      <p:ext uri="{BB962C8B-B14F-4D97-AF65-F5344CB8AC3E}">
        <p14:creationId xmlns:p14="http://schemas.microsoft.com/office/powerpoint/2010/main" val="2324286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5479C-6DEE-4B11-AA17-19F268BE3889}"/>
              </a:ext>
            </a:extLst>
          </p:cNvPr>
          <p:cNvSpPr>
            <a:spLocks noGrp="1"/>
          </p:cNvSpPr>
          <p:nvPr>
            <p:ph type="title"/>
          </p:nvPr>
        </p:nvSpPr>
        <p:spPr/>
        <p:txBody>
          <a:bodyPr/>
          <a:lstStyle/>
          <a:p>
            <a:r>
              <a:rPr lang="en-US" dirty="0"/>
              <a:t>RESULT</a:t>
            </a:r>
            <a:endParaRPr lang="en-IN" dirty="0"/>
          </a:p>
        </p:txBody>
      </p:sp>
      <p:graphicFrame>
        <p:nvGraphicFramePr>
          <p:cNvPr id="8" name="Table 8">
            <a:extLst>
              <a:ext uri="{FF2B5EF4-FFF2-40B4-BE49-F238E27FC236}">
                <a16:creationId xmlns:a16="http://schemas.microsoft.com/office/drawing/2014/main" id="{A28C26E8-32D4-4D6D-B464-098250623825}"/>
              </a:ext>
            </a:extLst>
          </p:cNvPr>
          <p:cNvGraphicFramePr>
            <a:graphicFrameLocks noGrp="1"/>
          </p:cNvGraphicFramePr>
          <p:nvPr>
            <p:ph idx="1"/>
            <p:extLst>
              <p:ext uri="{D42A27DB-BD31-4B8C-83A1-F6EECF244321}">
                <p14:modId xmlns:p14="http://schemas.microsoft.com/office/powerpoint/2010/main" val="4135417538"/>
              </p:ext>
            </p:extLst>
          </p:nvPr>
        </p:nvGraphicFramePr>
        <p:xfrm>
          <a:off x="1096963" y="1846263"/>
          <a:ext cx="10058400" cy="3662995"/>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56139203"/>
                    </a:ext>
                  </a:extLst>
                </a:gridCol>
                <a:gridCol w="5029200">
                  <a:extLst>
                    <a:ext uri="{9D8B030D-6E8A-4147-A177-3AD203B41FA5}">
                      <a16:colId xmlns:a16="http://schemas.microsoft.com/office/drawing/2014/main" val="2535686308"/>
                    </a:ext>
                  </a:extLst>
                </a:gridCol>
              </a:tblGrid>
              <a:tr h="732599">
                <a:tc>
                  <a:txBody>
                    <a:bodyPr/>
                    <a:lstStyle/>
                    <a:p>
                      <a:pPr algn="ctr"/>
                      <a:r>
                        <a:rPr lang="en-US" sz="2800" dirty="0"/>
                        <a:t>Algorithm </a:t>
                      </a:r>
                      <a:endParaRPr lang="en-IN" sz="3200" dirty="0"/>
                    </a:p>
                  </a:txBody>
                  <a:tcPr/>
                </a:tc>
                <a:tc>
                  <a:txBody>
                    <a:bodyPr/>
                    <a:lstStyle/>
                    <a:p>
                      <a:pPr algn="ctr"/>
                      <a:r>
                        <a:rPr lang="en-US" sz="2800" dirty="0"/>
                        <a:t>Accuracy </a:t>
                      </a:r>
                      <a:endParaRPr lang="en-IN" sz="2800" dirty="0"/>
                    </a:p>
                  </a:txBody>
                  <a:tcPr/>
                </a:tc>
                <a:extLst>
                  <a:ext uri="{0D108BD9-81ED-4DB2-BD59-A6C34878D82A}">
                    <a16:rowId xmlns:a16="http://schemas.microsoft.com/office/drawing/2014/main" val="4036399207"/>
                  </a:ext>
                </a:extLst>
              </a:tr>
              <a:tr h="732599">
                <a:tc>
                  <a:txBody>
                    <a:bodyPr/>
                    <a:lstStyle/>
                    <a:p>
                      <a:pPr algn="ctr"/>
                      <a:r>
                        <a:rPr lang="en-US" sz="2400" dirty="0"/>
                        <a:t>KNN </a:t>
                      </a:r>
                      <a:endParaRPr lang="en-IN" sz="2400" dirty="0"/>
                    </a:p>
                  </a:txBody>
                  <a:tcPr/>
                </a:tc>
                <a:tc>
                  <a:txBody>
                    <a:bodyPr/>
                    <a:lstStyle/>
                    <a:p>
                      <a:pPr algn="ctr"/>
                      <a:r>
                        <a:rPr lang="en-US" sz="2400" dirty="0"/>
                        <a:t>80-85%</a:t>
                      </a:r>
                      <a:endParaRPr lang="en-IN" sz="2400" dirty="0"/>
                    </a:p>
                  </a:txBody>
                  <a:tcPr/>
                </a:tc>
                <a:extLst>
                  <a:ext uri="{0D108BD9-81ED-4DB2-BD59-A6C34878D82A}">
                    <a16:rowId xmlns:a16="http://schemas.microsoft.com/office/drawing/2014/main" val="597518582"/>
                  </a:ext>
                </a:extLst>
              </a:tr>
              <a:tr h="732599">
                <a:tc>
                  <a:txBody>
                    <a:bodyPr/>
                    <a:lstStyle/>
                    <a:p>
                      <a:pPr algn="ctr"/>
                      <a:r>
                        <a:rPr lang="en-US" altLang="en" sz="2400" dirty="0"/>
                        <a:t>Naïve Bayes </a:t>
                      </a:r>
                      <a:endParaRPr lang="en-IN" sz="2400" dirty="0"/>
                    </a:p>
                  </a:txBody>
                  <a:tcPr/>
                </a:tc>
                <a:tc>
                  <a:txBody>
                    <a:bodyPr/>
                    <a:lstStyle/>
                    <a:p>
                      <a:pPr algn="ctr"/>
                      <a:r>
                        <a:rPr lang="en-US" sz="2400" dirty="0"/>
                        <a:t>80-85%</a:t>
                      </a:r>
                      <a:endParaRPr lang="en-IN" sz="2400" dirty="0"/>
                    </a:p>
                  </a:txBody>
                  <a:tcPr/>
                </a:tc>
                <a:extLst>
                  <a:ext uri="{0D108BD9-81ED-4DB2-BD59-A6C34878D82A}">
                    <a16:rowId xmlns:a16="http://schemas.microsoft.com/office/drawing/2014/main" val="4079267112"/>
                  </a:ext>
                </a:extLst>
              </a:tr>
              <a:tr h="732599">
                <a:tc>
                  <a:txBody>
                    <a:bodyPr/>
                    <a:lstStyle/>
                    <a:p>
                      <a:pPr algn="ctr"/>
                      <a:r>
                        <a:rPr lang="en-US" altLang="en" sz="2400" dirty="0"/>
                        <a:t>Decision Tree</a:t>
                      </a:r>
                      <a:endParaRPr lang="en-IN" sz="2400" dirty="0"/>
                    </a:p>
                  </a:txBody>
                  <a:tcPr/>
                </a:tc>
                <a:tc>
                  <a:txBody>
                    <a:bodyPr/>
                    <a:lstStyle/>
                    <a:p>
                      <a:pPr algn="ctr"/>
                      <a:r>
                        <a:rPr lang="en-US" sz="2400" dirty="0"/>
                        <a:t>75-90%</a:t>
                      </a:r>
                      <a:endParaRPr lang="en-IN" sz="2400" dirty="0"/>
                    </a:p>
                  </a:txBody>
                  <a:tcPr/>
                </a:tc>
                <a:extLst>
                  <a:ext uri="{0D108BD9-81ED-4DB2-BD59-A6C34878D82A}">
                    <a16:rowId xmlns:a16="http://schemas.microsoft.com/office/drawing/2014/main" val="210223555"/>
                  </a:ext>
                </a:extLst>
              </a:tr>
              <a:tr h="732599">
                <a:tc>
                  <a:txBody>
                    <a:bodyPr/>
                    <a:lstStyle/>
                    <a:p>
                      <a:pPr algn="ctr"/>
                      <a:r>
                        <a:rPr lang="en-US" altLang="en" sz="2400" b="0" dirty="0"/>
                        <a:t>Random Forest</a:t>
                      </a:r>
                      <a:endParaRPr lang="en-IN" sz="2400" b="0" dirty="0"/>
                    </a:p>
                  </a:txBody>
                  <a:tcPr/>
                </a:tc>
                <a:tc>
                  <a:txBody>
                    <a:bodyPr/>
                    <a:lstStyle/>
                    <a:p>
                      <a:pPr algn="ctr"/>
                      <a:r>
                        <a:rPr lang="en-US" sz="2400" dirty="0"/>
                        <a:t>80-95%</a:t>
                      </a:r>
                      <a:endParaRPr lang="en-IN" sz="2400" dirty="0"/>
                    </a:p>
                  </a:txBody>
                  <a:tcPr/>
                </a:tc>
                <a:extLst>
                  <a:ext uri="{0D108BD9-81ED-4DB2-BD59-A6C34878D82A}">
                    <a16:rowId xmlns:a16="http://schemas.microsoft.com/office/drawing/2014/main" val="853502650"/>
                  </a:ext>
                </a:extLst>
              </a:tr>
            </a:tbl>
          </a:graphicData>
        </a:graphic>
      </p:graphicFrame>
    </p:spTree>
    <p:extLst>
      <p:ext uri="{BB962C8B-B14F-4D97-AF65-F5344CB8AC3E}">
        <p14:creationId xmlns:p14="http://schemas.microsoft.com/office/powerpoint/2010/main" val="964047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9F719-CC4E-41F5-8A9B-601F59AF85C1}"/>
              </a:ext>
            </a:extLst>
          </p:cNvPr>
          <p:cNvSpPr>
            <a:spLocks noGrp="1"/>
          </p:cNvSpPr>
          <p:nvPr>
            <p:ph type="title"/>
          </p:nvPr>
        </p:nvSpPr>
        <p:spPr/>
        <p:txBody>
          <a:bodyPr/>
          <a:lstStyle/>
          <a:p>
            <a:r>
              <a:rPr lang="en-US" dirty="0"/>
              <a:t>CONCLUSION </a:t>
            </a:r>
            <a:endParaRPr lang="en-IN" dirty="0"/>
          </a:p>
        </p:txBody>
      </p:sp>
      <p:sp>
        <p:nvSpPr>
          <p:cNvPr id="3" name="Content Placeholder 2">
            <a:extLst>
              <a:ext uri="{FF2B5EF4-FFF2-40B4-BE49-F238E27FC236}">
                <a16:creationId xmlns:a16="http://schemas.microsoft.com/office/drawing/2014/main" id="{AAD6202D-B7A9-4945-BF06-57E88B571FC8}"/>
              </a:ext>
            </a:extLst>
          </p:cNvPr>
          <p:cNvSpPr>
            <a:spLocks noGrp="1"/>
          </p:cNvSpPr>
          <p:nvPr>
            <p:ph idx="1"/>
          </p:nvPr>
        </p:nvSpPr>
        <p:spPr/>
        <p:txBody>
          <a:bodyPr>
            <a:normAutofit/>
          </a:bodyPr>
          <a:lstStyle/>
          <a:p>
            <a:pPr algn="just"/>
            <a:r>
              <a:rPr lang="en-US" sz="2800" dirty="0"/>
              <a:t>This work will be useful in identifying the possible patients who may suffer from heart disease in the next 10 years. This may help in taking preventive measures and hence try to avoid the possibility of heart disease for the patient. So when a patient is predicted as positive for heart disease, then the medical data for the patient can be closely </a:t>
            </a:r>
            <a:r>
              <a:rPr lang="en-US" sz="2800" dirty="0" err="1"/>
              <a:t>analysed</a:t>
            </a:r>
            <a:r>
              <a:rPr lang="en-US" sz="2800" dirty="0"/>
              <a:t> by the doctors. </a:t>
            </a:r>
          </a:p>
          <a:p>
            <a:endParaRPr lang="en-IN" sz="2800" dirty="0"/>
          </a:p>
        </p:txBody>
      </p:sp>
    </p:spTree>
    <p:extLst>
      <p:ext uri="{BB962C8B-B14F-4D97-AF65-F5344CB8AC3E}">
        <p14:creationId xmlns:p14="http://schemas.microsoft.com/office/powerpoint/2010/main" val="2562143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DF451D-1BFD-4344-8AB5-7515F09B3E57}"/>
              </a:ext>
            </a:extLst>
          </p:cNvPr>
          <p:cNvSpPr>
            <a:spLocks noGrp="1"/>
          </p:cNvSpPr>
          <p:nvPr>
            <p:ph type="title" idx="4294967295"/>
          </p:nvPr>
        </p:nvSpPr>
        <p:spPr>
          <a:xfrm>
            <a:off x="2019869" y="614149"/>
            <a:ext cx="7664450" cy="5008728"/>
          </a:xfrm>
        </p:spPr>
        <p:txBody>
          <a:bodyPr>
            <a:normAutofit fontScale="90000"/>
          </a:bodyPr>
          <a:lstStyle/>
          <a:p>
            <a:pPr algn="ctr"/>
            <a:r>
              <a:rPr lang="en-US" sz="19900" dirty="0"/>
              <a:t>THANK YOU</a:t>
            </a:r>
            <a:endParaRPr lang="en-IN" sz="19900" dirty="0"/>
          </a:p>
        </p:txBody>
      </p:sp>
    </p:spTree>
    <p:extLst>
      <p:ext uri="{BB962C8B-B14F-4D97-AF65-F5344CB8AC3E}">
        <p14:creationId xmlns:p14="http://schemas.microsoft.com/office/powerpoint/2010/main" val="169710284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TotalTime>
  <Words>847</Words>
  <Application>Microsoft Office PowerPoint</Application>
  <PresentationFormat>Widescreen</PresentationFormat>
  <Paragraphs>105</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Wingdings</vt:lpstr>
      <vt:lpstr>Retrospect</vt:lpstr>
      <vt:lpstr>PowerPoint Presentation</vt:lpstr>
      <vt:lpstr>ABSTRACT</vt:lpstr>
      <vt:lpstr>EXISTING SYSTEM</vt:lpstr>
      <vt:lpstr>PROPOSED SYSTEM</vt:lpstr>
      <vt:lpstr>HARDWARE REQUIREMENTS</vt:lpstr>
      <vt:lpstr>SOFTWARE REQUIREMENTS</vt:lpstr>
      <vt:lpstr>Algorithms:</vt:lpstr>
      <vt:lpstr> K– Nearest Neighbour:</vt:lpstr>
      <vt:lpstr>PowerPoint Presentation</vt:lpstr>
      <vt:lpstr>Naïve Bayes </vt:lpstr>
      <vt:lpstr>4.we use following Bayes Theorem formula. </vt:lpstr>
      <vt:lpstr>Decision Tree:</vt:lpstr>
      <vt:lpstr>PowerPoint Presentation</vt:lpstr>
      <vt:lpstr>Random Forest:</vt:lpstr>
      <vt:lpstr>Fig4:Random forest</vt:lpstr>
      <vt:lpstr>System Architecture</vt:lpstr>
      <vt:lpstr>PowerPoint Presentation</vt:lpstr>
      <vt:lpstr>PowerPoint Presentation</vt:lpstr>
      <vt:lpstr>Data Set Sample</vt:lpstr>
      <vt:lpstr>RESULT</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kumar</dc:creator>
  <cp:lastModifiedBy>vinay kumar</cp:lastModifiedBy>
  <cp:revision>25</cp:revision>
  <dcterms:created xsi:type="dcterms:W3CDTF">2020-02-18T18:17:06Z</dcterms:created>
  <dcterms:modified xsi:type="dcterms:W3CDTF">2020-05-21T02:51:59Z</dcterms:modified>
</cp:coreProperties>
</file>